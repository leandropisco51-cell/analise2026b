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77.jpg" ContentType="image/png"/>
  <Override PartName="/ppt/media/image89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41" r:id="rId5"/>
    <p:sldId id="343" r:id="rId6"/>
    <p:sldId id="358" r:id="rId7"/>
    <p:sldId id="359" r:id="rId8"/>
    <p:sldId id="354" r:id="rId9"/>
    <p:sldId id="355" r:id="rId10"/>
    <p:sldId id="356" r:id="rId11"/>
    <p:sldId id="357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53" r:id="rId21"/>
    <p:sldId id="368" r:id="rId22"/>
    <p:sldId id="369" r:id="rId23"/>
    <p:sldId id="370" r:id="rId24"/>
    <p:sldId id="371" r:id="rId25"/>
    <p:sldId id="372" r:id="rId26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Gotham" panose="020B0604020202020204" charset="0"/>
      <p:regular r:id="rId34"/>
      <p:bold r:id="rId35"/>
      <p:italic r:id="rId36"/>
      <p:boldItalic r:id="rId37"/>
    </p:embeddedFont>
    <p:embeddedFont>
      <p:font typeface="Gotham Black" charset="0"/>
      <p:regular r:id="rId38"/>
      <p:bold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272" y="0"/>
            <a:ext cx="12559151" cy="67553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avançar...</a:t>
            </a:r>
            <a:endParaRPr lang="pt-B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65373" y="16815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Dessa vez eu vou avançar porque fiquei duas aulas praticando função! Ufa!!!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6D3B173-A7B8-42A0-A7F6-F58922710D7F}"/>
              </a:ext>
            </a:extLst>
          </p:cNvPr>
          <p:cNvSpPr/>
          <p:nvPr/>
        </p:nvSpPr>
        <p:spPr>
          <a:xfrm>
            <a:off x="281654" y="1292691"/>
            <a:ext cx="11224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Try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D7142F6-1657-40E8-86D8-CCBED9BB4B58}"/>
              </a:ext>
            </a:extLst>
          </p:cNvPr>
          <p:cNvSpPr/>
          <p:nvPr/>
        </p:nvSpPr>
        <p:spPr>
          <a:xfrm>
            <a:off x="745035" y="2417230"/>
            <a:ext cx="2110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Except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F0DFB8-74A5-4B03-939A-F48D293DBF1F}"/>
              </a:ext>
            </a:extLst>
          </p:cNvPr>
          <p:cNvSpPr/>
          <p:nvPr/>
        </p:nvSpPr>
        <p:spPr>
          <a:xfrm>
            <a:off x="1619728" y="3802609"/>
            <a:ext cx="1342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Else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3848BAE-8653-4E4C-9260-10D0AEE13419}"/>
              </a:ext>
            </a:extLst>
          </p:cNvPr>
          <p:cNvSpPr/>
          <p:nvPr/>
        </p:nvSpPr>
        <p:spPr>
          <a:xfrm>
            <a:off x="1690278" y="5038923"/>
            <a:ext cx="2098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Finally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C2D47-43D7-412C-986E-707B45076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7" y="290341"/>
            <a:ext cx="7772399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algoritmo em Python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utilize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funções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realizar 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divisão entre dois números reais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informados pelo usuário.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programa deve: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Definir uma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função chamada dividir(a, b)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receba dois valores numéricos como parâmetros.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Calcular 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retornar o resultado da divisão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primeiro número (a) pelo segundo (b).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 principal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solicitar que o usuário digite 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numerador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denominador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na tela 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 da divisão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uma mensagem explicativa.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Dica: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 o comando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dentro da função para devolver o valor da operação e exibi-lo fora dela.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6DC07C-A5C0-4E10-A8A7-E647E6E8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459" y="715578"/>
            <a:ext cx="4176541" cy="417654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BEDA27C-23A8-465E-A6E3-6A95DBBC3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518" y="5038531"/>
            <a:ext cx="1309226" cy="1716541"/>
          </a:xfrm>
          <a:prstGeom prst="rect">
            <a:avLst/>
          </a:prstGeom>
        </p:spPr>
      </p:pic>
      <p:sp>
        <p:nvSpPr>
          <p:cNvPr id="7" name="Balão de Pensamento: Nuvem 6">
            <a:extLst>
              <a:ext uri="{FF2B5EF4-FFF2-40B4-BE49-F238E27FC236}">
                <a16:creationId xmlns:a16="http://schemas.microsoft.com/office/drawing/2014/main" id="{2E15869C-4518-4DE8-A9FE-57605B7FEB33}"/>
              </a:ext>
            </a:extLst>
          </p:cNvPr>
          <p:cNvSpPr/>
          <p:nvPr/>
        </p:nvSpPr>
        <p:spPr>
          <a:xfrm>
            <a:off x="6774025" y="5252988"/>
            <a:ext cx="4786604" cy="1287625"/>
          </a:xfrm>
          <a:prstGeom prst="cloudCallout">
            <a:avLst>
              <a:gd name="adj1" fmla="val -60404"/>
              <a:gd name="adj2" fmla="val -418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Não vou nem olhar. Já estão pensando assim: Mas já? Logo no início: exercícios...</a:t>
            </a:r>
          </a:p>
        </p:txBody>
      </p:sp>
    </p:spTree>
    <p:extLst>
      <p:ext uri="{BB962C8B-B14F-4D97-AF65-F5344CB8AC3E}">
        <p14:creationId xmlns:p14="http://schemas.microsoft.com/office/powerpoint/2010/main" val="130736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178E2B7-CD12-44BD-8CA7-2EA4D5ACD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441" y="334929"/>
            <a:ext cx="6153150" cy="27908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CA2515C-FD70-4EF7-A4C5-05FBA804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56" y="334929"/>
            <a:ext cx="4516016" cy="451601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82341F4-FDBC-43CB-BA91-A2BF3EA73AE4}"/>
              </a:ext>
            </a:extLst>
          </p:cNvPr>
          <p:cNvSpPr/>
          <p:nvPr/>
        </p:nvSpPr>
        <p:spPr>
          <a:xfrm>
            <a:off x="1351647" y="5127658"/>
            <a:ext cx="93394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Caaaaalma</a:t>
            </a:r>
            <a:r>
              <a:rPr lang="pt-BR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. Vamos fazer juntos!</a:t>
            </a:r>
            <a:endParaRPr lang="pt-BR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DF586C-B58E-4098-AF2E-3D710D987866}"/>
              </a:ext>
            </a:extLst>
          </p:cNvPr>
          <p:cNvSpPr txBox="1"/>
          <p:nvPr/>
        </p:nvSpPr>
        <p:spPr>
          <a:xfrm>
            <a:off x="5505061" y="3650616"/>
            <a:ext cx="4264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Coloque Zero no denominador na hora de testar. Logo após insira outros caracteres que não sejam valores. Observe o que o que aparece no CMD.</a:t>
            </a:r>
          </a:p>
        </p:txBody>
      </p:sp>
    </p:spTree>
    <p:extLst>
      <p:ext uri="{BB962C8B-B14F-4D97-AF65-F5344CB8AC3E}">
        <p14:creationId xmlns:p14="http://schemas.microsoft.com/office/powerpoint/2010/main" val="144047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2AD74D-7D99-40B5-97CA-9D90D2BF1EEB}"/>
              </a:ext>
            </a:extLst>
          </p:cNvPr>
          <p:cNvSpPr/>
          <p:nvPr/>
        </p:nvSpPr>
        <p:spPr>
          <a:xfrm>
            <a:off x="90195" y="168407"/>
            <a:ext cx="7598229" cy="189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 tratamento de erros em algoritmos é o processo de projetar e implementar a forma como um sistema ou aplicação reage a situações inesperadas, anomalias ou falhas durante sua execução. O objetivo é garantir a robustez do programa, permitindo que ele continue a funcionar de forma controlada ou forneça feedback claro, em vez de falhar abruptamente. 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AFD178-30E9-4659-9DDA-846551779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62" y="2312840"/>
            <a:ext cx="8316687" cy="38399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Tipos de Erros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Existem três tipos principais de erros que podem ocorrer: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Erros de Sintaxe: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Ocorrem quando o código viola as regras gramaticais da linguagem de programação. São geralmente detectados pelo compilador ou interpretador antes da execução.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Erros de Tempo de Execução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Runtime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):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Ocorrem enquanto o programa está em execução, muitas vezes devido a condições anormais que não podiam ser previstas na compilação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 divisão por zero, acesso a um arquivo inexistente, falta de memória).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Erros Lógicos: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O código está sintaticamente correto e é executado sem falhas, mas não produz o resultado esperado devido a falhas na lógica do algoritmo. 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8FD19D-438B-4ABD-9A6D-C3EEBDB0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446" y="524355"/>
            <a:ext cx="3340359" cy="49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6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39ECF5-82D8-4B2D-947B-514AFEE9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5" y="92637"/>
            <a:ext cx="7707086" cy="22626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 tratamento de erros em Python é feito com os blocos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finally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que permitem lidar com erros (chamados de exceções) de forma controlada, em vez de o programa simplesmente parar. O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envolve o código que pode gerar um erro, e o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captura e trata o erro se ele ocorrer. O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executa um bloco de código apenas se nenhuma exceção acontecer no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enquanto o 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finally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executa um bloco de código sempre, independentemente de ter ocorrido um erro ou não.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2E0B1-F15F-4D5C-B582-FC2FE434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5" y="2675143"/>
            <a:ext cx="8042988" cy="34578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50784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Estrutura básica do 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e 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Coloque o código que pode falhar dentro deste bloco. Python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documentation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Se ocorrer uma exceção no bloco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o código dentro do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é executado. 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Você pode especificar o tipo de exceção a ser capturada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ValueError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:), ou usar um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genérico para qualquer erro. 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É possível ter múltiplos blocos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except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para tratar diferentes tipos de erro de forma específica.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980698-0AB6-4038-93ED-986B1F033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666" y="571008"/>
            <a:ext cx="3340359" cy="49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E1197A-FBE1-4EFA-945A-E474D45EB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35" y="99724"/>
            <a:ext cx="7772400" cy="64252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Outros blocos opcionais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Este bloco é opcional e só é executado se o código no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for concluído com sucesso, sem levantar nenhuma exceção.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finally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Este bloco também é opcional e é sempre executado, seja uma exceção tenha ocorrido ou não. É útil para limpar recursos, como fechar um arquivo.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Exemplos de exceções comuns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ValueError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Quando uma operação recebe um valor do tipo correto, mas com valor inadequado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("abc")).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TypeError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Ocorre quando uma operação é aplicada a um objeto de tipo inadequado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 somar um número com um texto).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NameError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Quando uma variável, função ou outro nome não é encontrado no código.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FileNotFoundError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Quando o programa tenta abrir um arquivo que não existe.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ZeroDivisionError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 Quando você tenta dividir um número por zero.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A40056-493C-4F4A-866D-36DACB707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706" y="589670"/>
            <a:ext cx="3340359" cy="49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CE8731-5220-4108-BD00-91D29C78C85B}"/>
              </a:ext>
            </a:extLst>
          </p:cNvPr>
          <p:cNvSpPr/>
          <p:nvPr/>
        </p:nvSpPr>
        <p:spPr>
          <a:xfrm>
            <a:off x="0" y="-93106"/>
            <a:ext cx="869353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Implementação do algoritmo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anterior com </a:t>
            </a:r>
            <a:r>
              <a:rPr lang="pt-BR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Try</a:t>
            </a:r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- </a:t>
            </a:r>
            <a:r>
              <a:rPr lang="pt-BR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Except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0C3777-ABD3-4416-A85A-95E6E705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97" y="1562100"/>
            <a:ext cx="5457825" cy="52959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D1CECBC-79FA-43B0-B645-AA23918F1888}"/>
              </a:ext>
            </a:extLst>
          </p:cNvPr>
          <p:cNvSpPr/>
          <p:nvPr/>
        </p:nvSpPr>
        <p:spPr>
          <a:xfrm>
            <a:off x="5932422" y="3429000"/>
            <a:ext cx="4706252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Observou com o resultado com o tratamento de erros mostra uma credibilidade maior em nosso trabalho?</a:t>
            </a:r>
          </a:p>
        </p:txBody>
      </p:sp>
    </p:spTree>
    <p:extLst>
      <p:ext uri="{BB962C8B-B14F-4D97-AF65-F5344CB8AC3E}">
        <p14:creationId xmlns:p14="http://schemas.microsoft.com/office/powerpoint/2010/main" val="18486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6928246-3954-42BD-BB89-C74AE5F0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78" y="1366935"/>
            <a:ext cx="8001000" cy="36576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961F02E-9D6F-4E29-A4B5-4921F3E40795}"/>
              </a:ext>
            </a:extLst>
          </p:cNvPr>
          <p:cNvSpPr/>
          <p:nvPr/>
        </p:nvSpPr>
        <p:spPr>
          <a:xfrm rot="19366360">
            <a:off x="-347032" y="2444821"/>
            <a:ext cx="46378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Mão na massa!</a:t>
            </a:r>
          </a:p>
        </p:txBody>
      </p:sp>
    </p:spTree>
    <p:extLst>
      <p:ext uri="{BB962C8B-B14F-4D97-AF65-F5344CB8AC3E}">
        <p14:creationId xmlns:p14="http://schemas.microsoft.com/office/powerpoint/2010/main" val="54449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77F5155-D0DF-494C-B7BE-A93194B3D867}"/>
              </a:ext>
            </a:extLst>
          </p:cNvPr>
          <p:cNvSpPr/>
          <p:nvPr/>
        </p:nvSpPr>
        <p:spPr>
          <a:xfrm>
            <a:off x="111967" y="-28041"/>
            <a:ext cx="8064759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Crie um programa que leia um número digitado pelo usuário e converta para int. Se o valor não for numérico, mostre uma mensagem de erro.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53B481-B244-4036-AC1B-EBF63AB4F506}"/>
              </a:ext>
            </a:extLst>
          </p:cNvPr>
          <p:cNvSpPr/>
          <p:nvPr/>
        </p:nvSpPr>
        <p:spPr>
          <a:xfrm>
            <a:off x="111967" y="1006195"/>
            <a:ext cx="7719526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Leia duas notas, calcule a média e trate erros de entrada (valor inválido ou divisão incorreta).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B66668-FD47-484E-8A48-533D3635B231}"/>
              </a:ext>
            </a:extLst>
          </p:cNvPr>
          <p:cNvSpPr/>
          <p:nvPr/>
        </p:nvSpPr>
        <p:spPr>
          <a:xfrm>
            <a:off x="111967" y="2002498"/>
            <a:ext cx="7719526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Peça o nome de uma chave e tente buscá-la em um dicionário. Se a chave não existir, mostre uma mensagem.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alunos = {"Ana": 8.5, "Bruno": 7.0, "Carlos": 9.2}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537BFA-3A1D-4322-8E72-DB21B701D093}"/>
              </a:ext>
            </a:extLst>
          </p:cNvPr>
          <p:cNvSpPr/>
          <p:nvPr/>
        </p:nvSpPr>
        <p:spPr>
          <a:xfrm>
            <a:off x="111967" y="3298366"/>
            <a:ext cx="8145625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Peça dois números e uma operação.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try-except-else-finally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como divisão por zero e operação inválida.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 estrutura match case para decidir com os caracteres abaixo suas respectivas operações: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dição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Subtração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Multiplicação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 Divisão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4CEA39-7CA6-448F-A543-11F08379D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726" y="286084"/>
            <a:ext cx="4015274" cy="605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0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8DD9EB-5161-4A4B-9E0A-D015584534A3}"/>
              </a:ext>
            </a:extLst>
          </p:cNvPr>
          <p:cNvSpPr/>
          <p:nvPr/>
        </p:nvSpPr>
        <p:spPr>
          <a:xfrm>
            <a:off x="0" y="201983"/>
            <a:ext cx="8080310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Crie um programa que peça o nome e a idade de uma pessoa. Se o valor digitado para idade não for um número inteiro positivo, mostre uma mensagem de erro.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garantir o encerramento correto do programa: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1B8645-CBCE-43F3-B029-F6097928DC2E}"/>
              </a:ext>
            </a:extLst>
          </p:cNvPr>
          <p:cNvSpPr/>
          <p:nvPr/>
        </p:nvSpPr>
        <p:spPr>
          <a:xfrm>
            <a:off x="49763" y="2157818"/>
            <a:ext cx="7514253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Leia peso e altura de uma pessoa e calcule o IMC.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como entradas inválidas ou altura igual a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zero.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18.5 = Abaixo do peso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25= Peso normal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30 = Sobrepeso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&gt;=30 = Obesidade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03A8C9-B221-4A1C-8C6D-0AC0D3A0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221" y="1114375"/>
            <a:ext cx="5241730" cy="29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3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42616E-48A8-43ED-9BFA-384B109D4907}"/>
              </a:ext>
            </a:extLst>
          </p:cNvPr>
          <p:cNvSpPr/>
          <p:nvPr/>
        </p:nvSpPr>
        <p:spPr>
          <a:xfrm>
            <a:off x="416766" y="382183"/>
            <a:ext cx="7691535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Crie um pequeno sistema de consulta de produtos. O usuário digita o nome do produto e a quantidade desejada.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de chave inexistente ou valores incorretos.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D2D4CF-C772-4199-86D1-94FBD45BA878}"/>
              </a:ext>
            </a:extLst>
          </p:cNvPr>
          <p:cNvSpPr/>
          <p:nvPr/>
        </p:nvSpPr>
        <p:spPr>
          <a:xfrm>
            <a:off x="220821" y="2062266"/>
            <a:ext cx="7691535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implemente a estrutura de repetição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exercício 04 para permitir que o usuário continue utilizando a calculadora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D9D502-2A6A-4CE0-8B6A-1B638252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34300"/>
            <a:ext cx="5241730" cy="29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6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926EF80-5C2C-4F73-9EA1-2C1810517E4B}"/>
              </a:ext>
            </a:extLst>
          </p:cNvPr>
          <p:cNvSpPr/>
          <p:nvPr/>
        </p:nvSpPr>
        <p:spPr>
          <a:xfrm>
            <a:off x="694413" y="429409"/>
            <a:ext cx="2666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Solução: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69F35D-07CB-4591-8AD6-09F73D5F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58" y="3204169"/>
            <a:ext cx="6124575" cy="25527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B624B5E-8E7E-4989-81DB-F27160252593}"/>
              </a:ext>
            </a:extLst>
          </p:cNvPr>
          <p:cNvSpPr/>
          <p:nvPr/>
        </p:nvSpPr>
        <p:spPr>
          <a:xfrm>
            <a:off x="214604" y="1539502"/>
            <a:ext cx="8064759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Crie um programa que leia um número digitado pelo usuário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converta para int. Se o valor não for numérico,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uma mensagem de erro.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09C4C0-8DBD-4E52-87D4-94F8959D1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87" y="723994"/>
            <a:ext cx="5410011" cy="541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4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B3B3DF4-55B8-4192-8E03-1A93F8A1F654}"/>
              </a:ext>
            </a:extLst>
          </p:cNvPr>
          <p:cNvSpPr/>
          <p:nvPr/>
        </p:nvSpPr>
        <p:spPr>
          <a:xfrm>
            <a:off x="102637" y="91795"/>
            <a:ext cx="7719526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Leia duas notas, calcule a média e trate erros de entrada (valor inválido ou divisão incorreta).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5B704C-0764-4226-95FE-AB978F45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38" y="1526624"/>
            <a:ext cx="5238750" cy="30956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2E39C5F-114E-46D7-9854-2A3F6B67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87" y="723994"/>
            <a:ext cx="5410011" cy="541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2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55CF247-6741-4377-8097-8B4FB7E7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713429"/>
            <a:ext cx="5676900" cy="30765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D928655-07A7-47CE-8AE7-36DEEC87DC57}"/>
              </a:ext>
            </a:extLst>
          </p:cNvPr>
          <p:cNvSpPr/>
          <p:nvPr/>
        </p:nvSpPr>
        <p:spPr>
          <a:xfrm>
            <a:off x="223935" y="117714"/>
            <a:ext cx="7719526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Peça o nome de uma chave e tente buscá-la em um dicionário. Se a chave não existir, mostre uma mensagem.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alunos = {"Ana": 8.5, "Bruno": 7.0, "Carlos": 9.2}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F8206C-8954-4C50-AA66-16C6064E2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87" y="723994"/>
            <a:ext cx="5410011" cy="541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9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4AF4A66-DEA5-41A4-B47E-70066C8D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5" y="252412"/>
            <a:ext cx="5895975" cy="63531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0325BD2-4A2E-4765-B8B8-902BC77D6784}"/>
              </a:ext>
            </a:extLst>
          </p:cNvPr>
          <p:cNvSpPr/>
          <p:nvPr/>
        </p:nvSpPr>
        <p:spPr>
          <a:xfrm>
            <a:off x="158620" y="331231"/>
            <a:ext cx="6137405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Peça dois números e uma operação.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try-except-else-finally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como divisão por zero e operação inválida.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 estrutura match case para decidir com os caracteres abaixo suas respectivas operações: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dição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Subtração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Multiplicação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 Divisão</a:t>
            </a:r>
          </a:p>
        </p:txBody>
      </p:sp>
    </p:spTree>
    <p:extLst>
      <p:ext uri="{BB962C8B-B14F-4D97-AF65-F5344CB8AC3E}">
        <p14:creationId xmlns:p14="http://schemas.microsoft.com/office/powerpoint/2010/main" val="11508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8ADE0B1-F4CE-49B8-BBE7-E225AB1E1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90394"/>
              </p:ext>
            </p:extLst>
          </p:nvPr>
        </p:nvGraphicFramePr>
        <p:xfrm>
          <a:off x="-1" y="4405310"/>
          <a:ext cx="11318034" cy="1828800"/>
        </p:xfrm>
        <a:graphic>
          <a:graphicData uri="http://schemas.openxmlformats.org/drawingml/2006/table">
            <a:tbl>
              <a:tblPr/>
              <a:tblGrid>
                <a:gridCol w="4823928">
                  <a:extLst>
                    <a:ext uri="{9D8B030D-6E8A-4147-A177-3AD203B41FA5}">
                      <a16:colId xmlns:a16="http://schemas.microsoft.com/office/drawing/2014/main" val="4181527338"/>
                    </a:ext>
                  </a:extLst>
                </a:gridCol>
                <a:gridCol w="6494106">
                  <a:extLst>
                    <a:ext uri="{9D8B030D-6E8A-4147-A177-3AD203B41FA5}">
                      <a16:colId xmlns:a16="http://schemas.microsoft.com/office/drawing/2014/main" val="31954824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Situação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chemeClr val="bg1"/>
                          </a:solidFill>
                        </a:rPr>
                        <a:t>Exemplo de uso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796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Validar entrada incorreta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chemeClr val="bg1"/>
                          </a:solidFill>
                        </a:rPr>
                        <a:t>raise ValueError("Entrada inválida!")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068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Impedir operação impossível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chemeClr val="bg1"/>
                          </a:solidFill>
                        </a:rPr>
                        <a:t>raise ZeroDivisionError("Denominador não pode ser zero!")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1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Reforçar regras de negócio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chemeClr val="bg1"/>
                          </a:solidFill>
                        </a:rPr>
                        <a:t>raise Exception("Saldo insuficiente para saque!")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36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Interromper execução intencionalmente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chemeClr val="bg1"/>
                          </a:solidFill>
                        </a:rPr>
                        <a:t>raise</a:t>
                      </a: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dirty="0" err="1">
                          <a:solidFill>
                            <a:schemeClr val="bg1"/>
                          </a:solidFill>
                        </a:rPr>
                        <a:t>SystemExit</a:t>
                      </a: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("Encerrando o programa.")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270234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A582E902-51E7-4B6E-AF07-1FF9FDA5FAAC}"/>
              </a:ext>
            </a:extLst>
          </p:cNvPr>
          <p:cNvSpPr/>
          <p:nvPr/>
        </p:nvSpPr>
        <p:spPr>
          <a:xfrm>
            <a:off x="0" y="2927337"/>
            <a:ext cx="7025952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usado quando você quer provocar um erro de propósito, geralmente para interromper o programa ou indicar que algo está errado.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0ECE18-782D-4DFF-BA77-2726350C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5" y="0"/>
            <a:ext cx="5850295" cy="27368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1A764DB-2ADF-43EE-AD9A-D5FD0CD63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644" y="253186"/>
            <a:ext cx="4152124" cy="41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0629E74-572C-45B6-B6B8-B72E3553DB5B}"/>
              </a:ext>
            </a:extLst>
          </p:cNvPr>
          <p:cNvSpPr/>
          <p:nvPr/>
        </p:nvSpPr>
        <p:spPr>
          <a:xfrm>
            <a:off x="0" y="201983"/>
            <a:ext cx="8080310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Crie um programa que peça o nome e a idade de uma pessoa. Se o valor digitado para idade não for um número inteiro positivo, mostre uma mensagem de erro.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garantir o encerramento correto do programa: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A118C9-77C0-40E1-9927-FE742B0E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2371"/>
            <a:ext cx="7762875" cy="375285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B6FB0BE-7F1C-4676-A47E-179B9B7A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11" y="1194318"/>
            <a:ext cx="4939687" cy="493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2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BD48366-32CA-4442-B7F2-02BA8D04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706" y="138112"/>
            <a:ext cx="7820025" cy="65817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E131A6F-66E1-41A4-8EE2-5BEB404098BE}"/>
              </a:ext>
            </a:extLst>
          </p:cNvPr>
          <p:cNvSpPr/>
          <p:nvPr/>
        </p:nvSpPr>
        <p:spPr>
          <a:xfrm>
            <a:off x="171061" y="851532"/>
            <a:ext cx="3206622" cy="37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Leia peso e altura de uma pessoa e calcule o IMC.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como entradas inválidas ou altura igual a zero.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18.5 = Abaixo do peso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25= Peso normal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&lt; 30 = Sobrepeso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Imc</a:t>
            </a:r>
            <a:r>
              <a:rPr lang="pt-BR" dirty="0">
                <a:solidFill>
                  <a:schemeClr val="bg1"/>
                </a:solidFill>
              </a:rPr>
              <a:t> &gt;=30 = Obesidade</a:t>
            </a:r>
          </a:p>
        </p:txBody>
      </p:sp>
    </p:spTree>
    <p:extLst>
      <p:ext uri="{BB962C8B-B14F-4D97-AF65-F5344CB8AC3E}">
        <p14:creationId xmlns:p14="http://schemas.microsoft.com/office/powerpoint/2010/main" val="278835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337D73-CE60-4F5F-AFB4-03D24D47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619" y="0"/>
            <a:ext cx="6384381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32A7730-CC2B-4001-8E4E-3C00997B1B7B}"/>
              </a:ext>
            </a:extLst>
          </p:cNvPr>
          <p:cNvSpPr/>
          <p:nvPr/>
        </p:nvSpPr>
        <p:spPr>
          <a:xfrm>
            <a:off x="416767" y="848714"/>
            <a:ext cx="5125618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Crie um pequeno sistema de consulta de produtos. O usuário digita o nome do produto e a quantidade desejada. 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tratar erros de chave inexistente ou valores incorretos.</a:t>
            </a:r>
          </a:p>
        </p:txBody>
      </p:sp>
    </p:spTree>
    <p:extLst>
      <p:ext uri="{BB962C8B-B14F-4D97-AF65-F5344CB8AC3E}">
        <p14:creationId xmlns:p14="http://schemas.microsoft.com/office/powerpoint/2010/main" val="288417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C53751-9D85-4138-839F-9681BCBF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3338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75D07BC-D4D4-4989-A568-C2C5E316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421" y="2552700"/>
            <a:ext cx="6837200" cy="43053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4DBAF5C-072F-4748-83EF-EE1C6CD87138}"/>
              </a:ext>
            </a:extLst>
          </p:cNvPr>
          <p:cNvSpPr/>
          <p:nvPr/>
        </p:nvSpPr>
        <p:spPr>
          <a:xfrm>
            <a:off x="-13415" y="4562870"/>
            <a:ext cx="5526836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Implemente a estrutura de repetição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exercício 04 para permitir que o usuário continue utilizando a calculadora: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00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8EA12B2-1C30-4336-AB20-0B944300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73" y="561683"/>
            <a:ext cx="2686050" cy="1647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FFAC1D-17F5-4192-BBA4-6366BA6F45E5}"/>
              </a:ext>
            </a:extLst>
          </p:cNvPr>
          <p:cNvSpPr/>
          <p:nvPr/>
        </p:nvSpPr>
        <p:spPr>
          <a:xfrm>
            <a:off x="649608" y="2209508"/>
            <a:ext cx="7683064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que é o pandas?</a:t>
            </a:r>
          </a:p>
          <a:p>
            <a:pPr algn="ctr"/>
            <a:r>
              <a:rPr lang="pt-BR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Para que serve?</a:t>
            </a:r>
          </a:p>
          <a:p>
            <a:pPr algn="ctr"/>
            <a:r>
              <a:rPr lang="pt-BR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É de comer?</a:t>
            </a:r>
          </a:p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Será que é um </a:t>
            </a:r>
            <a:r>
              <a:rPr lang="pt-BR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animal?</a:t>
            </a:r>
          </a:p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Veja no próximo capítulo de:</a:t>
            </a:r>
          </a:p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UC1, o começo!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D4ECC9-7675-4DA2-A00E-C7CB0F52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085" y="971744"/>
            <a:ext cx="4400939" cy="247552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E39F3D9-5B9D-4AD9-9F45-D12346009C21}"/>
              </a:ext>
            </a:extLst>
          </p:cNvPr>
          <p:cNvSpPr/>
          <p:nvPr/>
        </p:nvSpPr>
        <p:spPr>
          <a:xfrm>
            <a:off x="3099190" y="862375"/>
            <a:ext cx="4342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https://pandas.pydata.org/</a:t>
            </a:r>
          </a:p>
        </p:txBody>
      </p:sp>
    </p:spTree>
    <p:extLst>
      <p:ext uri="{BB962C8B-B14F-4D97-AF65-F5344CB8AC3E}">
        <p14:creationId xmlns:p14="http://schemas.microsoft.com/office/powerpoint/2010/main" val="369058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3EA432-4EC6-46D0-9CF1-D165F57C8F9B}"/>
</file>

<file path=customXml/itemProps2.xml><?xml version="1.0" encoding="utf-8"?>
<ds:datastoreItem xmlns:ds="http://schemas.openxmlformats.org/officeDocument/2006/customXml" ds:itemID="{B3D73A89-B988-4509-83B7-FFB36E49DC45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a781f388-7a10-472b-91d8-f6ba0302cf91"/>
    <ds:schemaRef ds:uri="9b06ae4b-c05d-45e7-9862-552d1f33da7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1486</Words>
  <Application>Microsoft Office PowerPoint</Application>
  <PresentationFormat>Widescreen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Abril Fatface</vt:lpstr>
      <vt:lpstr>Calibri</vt:lpstr>
      <vt:lpstr>Arial</vt:lpstr>
      <vt:lpstr>Arial Black</vt:lpstr>
      <vt:lpstr>Gotham</vt:lpstr>
      <vt:lpstr>Gotham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177</cp:revision>
  <cp:lastPrinted>2018-05-14T08:23:45Z</cp:lastPrinted>
  <dcterms:created xsi:type="dcterms:W3CDTF">2018-05-13T00:15:53Z</dcterms:created>
  <dcterms:modified xsi:type="dcterms:W3CDTF">2025-11-10T19:07:20Z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