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41" r:id="rId5"/>
    <p:sldId id="342" r:id="rId6"/>
    <p:sldId id="343" r:id="rId7"/>
    <p:sldId id="344" r:id="rId8"/>
    <p:sldId id="345" r:id="rId9"/>
    <p:sldId id="346" r:id="rId10"/>
    <p:sldId id="361" r:id="rId11"/>
    <p:sldId id="362" r:id="rId12"/>
    <p:sldId id="347" r:id="rId13"/>
    <p:sldId id="348" r:id="rId14"/>
    <p:sldId id="352" r:id="rId15"/>
    <p:sldId id="349" r:id="rId16"/>
    <p:sldId id="359" r:id="rId17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  <p:bold r:id="rId26"/>
      <p:italic r:id="rId27"/>
      <p:boldItalic r:id="rId28"/>
    </p:embeddedFont>
    <p:embeddedFont>
      <p:font typeface="Gotham Black" charset="0"/>
      <p:regular r:id="rId29"/>
      <p:bold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yM5QLS2h6M" TargetMode="External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1021CBB-FB27-4D7A-8EFB-6EA8EE418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49" y="0"/>
            <a:ext cx="4572000" cy="3429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19DD93F-D9EE-43EF-8F26-97830E3E4527}"/>
              </a:ext>
            </a:extLst>
          </p:cNvPr>
          <p:cNvSpPr/>
          <p:nvPr/>
        </p:nvSpPr>
        <p:spPr>
          <a:xfrm>
            <a:off x="747452" y="3360610"/>
            <a:ext cx="1069709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 que você está achando das aulas?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 que tá faltando?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</a:t>
            </a:r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 conversar?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093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8A7646-2131-4799-9CA9-53D52468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175" y="-102637"/>
            <a:ext cx="12558227" cy="707260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5997446" y="858617"/>
            <a:ext cx="6166561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lembrar?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Variáveis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Programa 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Algoritmos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Estrutura de decisão</a:t>
            </a:r>
          </a:p>
        </p:txBody>
      </p:sp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6B59A6-B5B5-430A-917C-1253CC0330EC}"/>
              </a:ext>
            </a:extLst>
          </p:cNvPr>
          <p:cNvSpPr/>
          <p:nvPr/>
        </p:nvSpPr>
        <p:spPr>
          <a:xfrm>
            <a:off x="918620" y="0"/>
            <a:ext cx="1035475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fazer um exercício para aquecer</a:t>
            </a:r>
          </a:p>
          <a:p>
            <a:pPr algn="ctr"/>
            <a:r>
              <a:rPr lang="pt-BR" sz="4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lembrando do assunto:</a:t>
            </a:r>
          </a:p>
          <a:p>
            <a:pPr algn="ctr"/>
            <a:r>
              <a:rPr lang="pt-BR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Estrutura de Decisão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36444E-A582-4E3E-98C3-EEB2A13F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311" y="2086871"/>
            <a:ext cx="4032689" cy="268425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85FEEE9-BDB1-4F30-A48C-6D63D25F3CDD}"/>
              </a:ext>
            </a:extLst>
          </p:cNvPr>
          <p:cNvSpPr txBox="1"/>
          <p:nvPr/>
        </p:nvSpPr>
        <p:spPr>
          <a:xfrm>
            <a:off x="83975" y="2287519"/>
            <a:ext cx="71285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Escreva um algoritmo em Python que tenha a entrada de 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e salário Bruto.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exercitar as decisões seguindo as condições abaixo: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NSS: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 desconte 11%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&gt;=2000 desconte 9%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2000 desconte 8%</a:t>
            </a:r>
          </a:p>
          <a:p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 Transporte: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2000 desconte 6%, caso contrário, desconte 5%.</a:t>
            </a:r>
          </a:p>
          <a:p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Bônus: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3000, dê um bônus de 300 reais, caso o contrário, dê um bônus de 200 reais.</a:t>
            </a:r>
          </a:p>
          <a:p>
            <a:r>
              <a:rPr lang="pt-BR" sz="16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Cargo: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 cargo = “Acionista”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&gt;=2000 cargo = “Gerente”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2000 cargo = “Vendedor”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Salário líquido: </a:t>
            </a:r>
          </a:p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Salário bruto – descontos (</a:t>
            </a:r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inss</a:t>
            </a: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vale) + </a:t>
            </a:r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bonus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11296D-761D-47D3-872D-DAC55A9982B9}"/>
              </a:ext>
            </a:extLst>
          </p:cNvPr>
          <p:cNvSpPr txBox="1"/>
          <p:nvPr/>
        </p:nvSpPr>
        <p:spPr>
          <a:xfrm>
            <a:off x="7529803" y="5150499"/>
            <a:ext cx="3116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Use varáveis para guardar os cálculos e o cargo para sem mostrados no final. Mostre, também, o nome e o salário </a:t>
            </a:r>
            <a:r>
              <a:rPr lang="pt-BR" dirty="0" err="1">
                <a:solidFill>
                  <a:schemeClr val="bg1"/>
                </a:solidFill>
              </a:rPr>
              <a:t>inputados</a:t>
            </a:r>
            <a:r>
              <a:rPr lang="pt-BR" dirty="0">
                <a:solidFill>
                  <a:schemeClr val="bg1"/>
                </a:solidFill>
              </a:rPr>
              <a:t> pelo usuário</a:t>
            </a:r>
          </a:p>
        </p:txBody>
      </p:sp>
    </p:spTree>
    <p:extLst>
      <p:ext uri="{BB962C8B-B14F-4D97-AF65-F5344CB8AC3E}">
        <p14:creationId xmlns:p14="http://schemas.microsoft.com/office/powerpoint/2010/main" val="359092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1001A50-E97E-4BA6-8937-5A8587AE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40" y="608242"/>
            <a:ext cx="5389984" cy="282075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5A3220E-02A6-4EBC-AFD2-F0020DA7C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5" y="1370343"/>
            <a:ext cx="547707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 estrutura case é uma alternativa mais organizada e eficiente à estrutura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if-else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para tomar decisões baseadas em múltiplos valores</a:t>
            </a: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B600B8-06C4-43DB-8836-2888CB1C9325}"/>
              </a:ext>
            </a:extLst>
          </p:cNvPr>
          <p:cNvSpPr/>
          <p:nvPr/>
        </p:nvSpPr>
        <p:spPr>
          <a:xfrm>
            <a:off x="659729" y="211891"/>
            <a:ext cx="40404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Match / Case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8D5D60B-3BFB-444F-89EC-3D60E081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5" y="4197518"/>
            <a:ext cx="10194638" cy="17030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Python não tem a estrutura case como em outras linguagens, mas usa a estrutura match case (desde a versão 3.10) para funcionalidade semelhante, que compara uma expressão com diversos padrões. Para versões mais antigas, ou como alternativa, pode-se usar uma combinação de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if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elif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ou dicionários. 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761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42580-7F78-4DDB-BD76-25BC800E7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533"/>
            <a:ext cx="11821886" cy="26339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Match case (Python 3.10+)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É a maneira mais moderna e equivalente a um switch-case.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Compara um valor com vários cases, executando o bloco de código do primeiro caso que corresponder.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case _ atua como o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else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(ou caso genérico), sendo executado se nenhum outro case corresponder.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Pode-se usar o | (OU) para combinar múltiplos valores em um único case.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2794D8-D444-45B9-B0D4-CCE61D2A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75" y="3429000"/>
            <a:ext cx="6130051" cy="309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0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77F9F5-CB81-4133-A36B-A8A5EFE9E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19" y="1131628"/>
            <a:ext cx="9296400" cy="5229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39756E6-566D-430C-8381-3D3EAF0D967F}"/>
              </a:ext>
            </a:extLst>
          </p:cNvPr>
          <p:cNvSpPr/>
          <p:nvPr/>
        </p:nvSpPr>
        <p:spPr>
          <a:xfrm>
            <a:off x="2367505" y="-15637"/>
            <a:ext cx="36127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Exercícios...</a:t>
            </a:r>
          </a:p>
        </p:txBody>
      </p:sp>
    </p:spTree>
    <p:extLst>
      <p:ext uri="{BB962C8B-B14F-4D97-AF65-F5344CB8AC3E}">
        <p14:creationId xmlns:p14="http://schemas.microsoft.com/office/powerpoint/2010/main" val="77788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A8074D1-3E6F-4734-8313-A1A089507726}"/>
              </a:ext>
            </a:extLst>
          </p:cNvPr>
          <p:cNvSpPr/>
          <p:nvPr/>
        </p:nvSpPr>
        <p:spPr>
          <a:xfrm>
            <a:off x="146178" y="189719"/>
            <a:ext cx="7682205" cy="30777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Solicite um número de 1 a 7 e mostre o dia correspondente da semana.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72685A3-509F-41C7-A198-72CB6B64D766}"/>
              </a:ext>
            </a:extLst>
          </p:cNvPr>
          <p:cNvSpPr/>
          <p:nvPr/>
        </p:nvSpPr>
        <p:spPr>
          <a:xfrm>
            <a:off x="146178" y="737354"/>
            <a:ext cx="4628190" cy="30777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um número de 1 a 12 e mostre o nome do mês.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4AAB06-4111-4394-BF45-D91F79680769}"/>
              </a:ext>
            </a:extLst>
          </p:cNvPr>
          <p:cNvSpPr/>
          <p:nvPr/>
        </p:nvSpPr>
        <p:spPr>
          <a:xfrm>
            <a:off x="146178" y="1364283"/>
            <a:ext cx="4892686" cy="30777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dois números e um símbolo de operação (+, -, *, /).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1358BC-04EB-4823-9AF3-4574FCD7C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78" y="1991212"/>
            <a:ext cx="5325497" cy="3284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Solicite ao usuário uma letra que represente a nota de um aluno: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 B, C, D ou F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match-case para exibir: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: Excelente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 Bom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C: Regular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D: Ruim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F: Reprovado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Caso a letra não exista, mostre uma mensagem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apropriada.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C5CE8E-3E5A-42EB-B0DF-5D9BCE4CB2C5}"/>
              </a:ext>
            </a:extLst>
          </p:cNvPr>
          <p:cNvSpPr/>
          <p:nvPr/>
        </p:nvSpPr>
        <p:spPr>
          <a:xfrm>
            <a:off x="6117770" y="1373716"/>
            <a:ext cx="5928052" cy="46844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usuário digita a idade e o esporte é classificado dentro de um case:</a:t>
            </a:r>
          </a:p>
          <a:p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Categorias: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1-Natação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10 = "Categoria: Mirim"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&lt;= 14 = "Categoria: Infantil"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idade &gt;14 "Categoria: Juvenil"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2-Corrida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16 = "Categoria: Júnior"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16 = "Categoria: Adulto"</a:t>
            </a:r>
          </a:p>
          <a:p>
            <a:pPr>
              <a:lnSpc>
                <a:spcPct val="150000"/>
              </a:lnSpc>
            </a:pP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3-Ciclismo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18 = Categoria: Profissional"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&lt;18 = "Categoria: Amador"</a:t>
            </a:r>
          </a:p>
        </p:txBody>
      </p:sp>
    </p:spTree>
    <p:extLst>
      <p:ext uri="{BB962C8B-B14F-4D97-AF65-F5344CB8AC3E}">
        <p14:creationId xmlns:p14="http://schemas.microsoft.com/office/powerpoint/2010/main" val="101722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557B75-1F42-4044-909C-A94E5114FCED}"/>
              </a:ext>
            </a:extLst>
          </p:cNvPr>
          <p:cNvSpPr/>
          <p:nvPr/>
        </p:nvSpPr>
        <p:spPr>
          <a:xfrm>
            <a:off x="146178" y="287990"/>
            <a:ext cx="76822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Solicite um número de 1 a 7 e mostre o dia correspondente da semana.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F9D27A-5DBD-4CBE-96F9-A37BBEA8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38" y="928590"/>
            <a:ext cx="5229225" cy="45529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35F295E-2D6B-4726-A23A-4117B50C4436}"/>
              </a:ext>
            </a:extLst>
          </p:cNvPr>
          <p:cNvSpPr/>
          <p:nvPr/>
        </p:nvSpPr>
        <p:spPr>
          <a:xfrm>
            <a:off x="6096000" y="928590"/>
            <a:ext cx="6211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um número de 1 a 12 e mostre o nome do mês.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17BFCC-4CDF-455A-86CC-33630252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134" y="1451683"/>
            <a:ext cx="4356332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4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D4F466-EE66-4342-84A6-0FECBCCEBB96}"/>
              </a:ext>
            </a:extLst>
          </p:cNvPr>
          <p:cNvSpPr/>
          <p:nvPr/>
        </p:nvSpPr>
        <p:spPr>
          <a:xfrm>
            <a:off x="-116526" y="267869"/>
            <a:ext cx="6590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Receba dois números e um símbolo de operação (+, -, *, /).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796B7DD-CCD4-471E-9F45-BC6FF83C3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8" y="752902"/>
            <a:ext cx="5967267" cy="61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5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447C4E-83E1-4020-954A-138099A01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80" y="218901"/>
            <a:ext cx="6082114" cy="373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Solicite ao usuário uma letra que represente a nota de um aluno: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 B, C, D ou F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match-case para exibir: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: Excelente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 Bom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C: Regular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D: Ruim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F: Reprovado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Caso a letra não exista, mostre uma mensagem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apropriada.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5308C36-9EBE-47B6-A301-4F5628F20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990" y="921982"/>
            <a:ext cx="65817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A4620B6-6A0D-449E-B971-BE2098CA5E9D}"/>
              </a:ext>
            </a:extLst>
          </p:cNvPr>
          <p:cNvSpPr/>
          <p:nvPr/>
        </p:nvSpPr>
        <p:spPr>
          <a:xfrm>
            <a:off x="202162" y="157361"/>
            <a:ext cx="8643258" cy="5996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usuário digita a idade e o esporte é classificado dentro de um case:</a:t>
            </a:r>
          </a:p>
          <a:p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Categorias: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1-Natação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10 = "Categoria: Mirim"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&lt;= 14 = "Categoria: Infantil"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idade &gt;14 "Categoria: Juvenil"</a:t>
            </a:r>
          </a:p>
          <a:p>
            <a:pPr>
              <a:lnSpc>
                <a:spcPct val="150000"/>
              </a:lnSpc>
            </a:pPr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2-Corrida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16 = "Categoria: Júnior"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16 = "Categoria: Adulto"</a:t>
            </a:r>
          </a:p>
          <a:p>
            <a:pPr>
              <a:lnSpc>
                <a:spcPct val="150000"/>
              </a:lnSpc>
            </a:pPr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3-Ciclismo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18 = Categoria: Profissional"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&lt;18 = "Categoria: Amador"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98E29E-E7D3-4FAC-8B23-70F99E437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726" y="942488"/>
            <a:ext cx="7399564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1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73CA73-D2FA-49BF-8E5A-E1BF7DE1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17645"/>
            <a:ext cx="9753600" cy="5486400"/>
          </a:xfrm>
          <a:prstGeom prst="rect">
            <a:avLst/>
          </a:prstGeom>
        </p:spPr>
      </p:pic>
      <p:sp>
        <p:nvSpPr>
          <p:cNvPr id="4" name="Retângulo 3">
            <a:hlinkClick r:id="rId3"/>
            <a:extLst>
              <a:ext uri="{FF2B5EF4-FFF2-40B4-BE49-F238E27FC236}">
                <a16:creationId xmlns:a16="http://schemas.microsoft.com/office/drawing/2014/main" id="{9CE212B3-0C68-4C39-B256-525F15DEC6F6}"/>
              </a:ext>
            </a:extLst>
          </p:cNvPr>
          <p:cNvSpPr/>
          <p:nvPr/>
        </p:nvSpPr>
        <p:spPr>
          <a:xfrm>
            <a:off x="612710" y="555171"/>
            <a:ext cx="8120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https://www.youtube.com/watch?v=pyM5QLS2h6M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1389FC-3281-4523-88D6-CF0B2D59B44C}"/>
              </a:ext>
            </a:extLst>
          </p:cNvPr>
          <p:cNvSpPr txBox="1"/>
          <p:nvPr/>
        </p:nvSpPr>
        <p:spPr>
          <a:xfrm>
            <a:off x="612710" y="186612"/>
            <a:ext cx="510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Vídeo para a próxima aula...</a:t>
            </a:r>
          </a:p>
        </p:txBody>
      </p:sp>
    </p:spTree>
    <p:extLst>
      <p:ext uri="{BB962C8B-B14F-4D97-AF65-F5344CB8AC3E}">
        <p14:creationId xmlns:p14="http://schemas.microsoft.com/office/powerpoint/2010/main" val="224502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1E7688-E502-47C0-B69E-67EB81F4B821}"/>
</file>

<file path=customXml/itemProps2.xml><?xml version="1.0" encoding="utf-8"?>
<ds:datastoreItem xmlns:ds="http://schemas.openxmlformats.org/officeDocument/2006/customXml" ds:itemID="{B3D73A89-B988-4509-83B7-FFB36E49DC45}">
  <ds:schemaRefs>
    <ds:schemaRef ds:uri="http://schemas.microsoft.com/office/2006/documentManagement/types"/>
    <ds:schemaRef ds:uri="a781f388-7a10-472b-91d8-f6ba0302cf91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9b06ae4b-c05d-45e7-9862-552d1f33da7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766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 Black</vt:lpstr>
      <vt:lpstr>Gotham Black</vt:lpstr>
      <vt:lpstr>Gotham</vt:lpstr>
      <vt:lpstr>Abril Fatface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78</cp:revision>
  <cp:lastPrinted>2018-05-14T08:23:45Z</cp:lastPrinted>
  <dcterms:created xsi:type="dcterms:W3CDTF">2018-05-13T00:15:53Z</dcterms:created>
  <dcterms:modified xsi:type="dcterms:W3CDTF">2026-01-28T16:55:25Z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