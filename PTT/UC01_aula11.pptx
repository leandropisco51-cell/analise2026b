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341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5" r:id="rId16"/>
    <p:sldId id="356" r:id="rId17"/>
    <p:sldId id="353" r:id="rId18"/>
    <p:sldId id="354" r:id="rId19"/>
    <p:sldId id="357" r:id="rId20"/>
    <p:sldId id="358" r:id="rId21"/>
    <p:sldId id="359" r:id="rId22"/>
    <p:sldId id="360" r:id="rId23"/>
    <p:sldId id="361" r:id="rId24"/>
    <p:sldId id="362" r:id="rId25"/>
    <p:sldId id="363" r:id="rId26"/>
  </p:sldIdLst>
  <p:sldSz cx="12192000" cy="6858000"/>
  <p:notesSz cx="6858000" cy="9144000"/>
  <p:embeddedFontLst>
    <p:embeddedFont>
      <p:font typeface="Arial Black" panose="020B0A040201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Gotham" panose="020B0604020202020204" charset="0"/>
      <p:regular r:id="rId34"/>
      <p:bold r:id="rId35"/>
      <p:italic r:id="rId36"/>
      <p:boldItalic r:id="rId37"/>
    </p:embeddedFont>
    <p:embeddedFont>
      <p:font typeface="Gotham Black" charset="0"/>
      <p:regular r:id="rId38"/>
      <p:bold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292454"/>
    <a:srgbClr val="DFDCD8"/>
    <a:srgbClr val="382E35"/>
    <a:srgbClr val="472B80"/>
    <a:srgbClr val="666666"/>
    <a:srgbClr val="ADA8A7"/>
    <a:srgbClr val="382F3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1.fntdata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pic>
        <p:nvPicPr>
          <p:cNvPr id="253" name="Gráfico 252">
            <a:extLst>
              <a:ext uri="{FF2B5EF4-FFF2-40B4-BE49-F238E27FC236}">
                <a16:creationId xmlns:a16="http://schemas.microsoft.com/office/drawing/2014/main" id="{F252A6B5-F77F-704C-596C-DAE72DCC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1236"/>
            <a:ext cx="3128963" cy="562510"/>
          </a:xfrm>
          <a:prstGeom prst="rect">
            <a:avLst/>
          </a:prstGeom>
        </p:spPr>
      </p:pic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8CB2DBD-2863-E199-B0F9-92A6C21DB60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6290266-59E3-4682-7BA7-E2A20263ED32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A46CF08-27A9-4CBF-C8EF-FA4F448939EB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7DDDCC4-249B-7551-1EFF-4062AA653650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02A1C8E-F6DE-86C0-4B8D-30D8C410987B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723698F-DC97-71C3-D2C3-EF180ADE0044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EC3655-6F66-944B-954A-9502AC3301AE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C2F6A4A-EEE8-E855-FDC6-D3225B239885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FD1DBEE-F799-510B-C3E6-9FCE49F5D998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1B2877-C6B1-15A3-040B-C3E923E722D7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8A229412-6B55-6599-5DBD-A35DBDA86DB9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39940D00-7441-6727-F688-A6B31AEED625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D3001DC-DC36-680D-A292-29555D8DBF8C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DF0B926-C4F9-D592-974B-5ADC35D6D0E8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A18CB9E-9550-6BC1-4F65-A1BC8077516A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D465F-4DC3-6F0C-FB26-90ECCE6B5737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4572605-9FDB-EFBD-98D1-2FAD0EAA9160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6234E2F-C059-AE87-D1E7-3320E10C19C3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6092C2-0A03-BF3E-515D-9B779ECA2363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0D9096-BE71-9589-693B-B5F6E0F17AC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orma Livre: Forma 86">
            <a:extLst>
              <a:ext uri="{FF2B5EF4-FFF2-40B4-BE49-F238E27FC236}">
                <a16:creationId xmlns:a16="http://schemas.microsoft.com/office/drawing/2014/main" id="{873395DF-A73D-F7F4-A2A3-735160A826D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93644697-2986-6913-85BE-EC873F4E13BD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9" name="Forma Livre: Forma 88">
            <a:extLst>
              <a:ext uri="{FF2B5EF4-FFF2-40B4-BE49-F238E27FC236}">
                <a16:creationId xmlns:a16="http://schemas.microsoft.com/office/drawing/2014/main" id="{68AB7995-C2CC-6F0E-4F65-C4C09DB43CA6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9509CB3-93D4-5BAA-180B-503800EC6A39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1" name="Forma Livre: Forma 90">
            <a:extLst>
              <a:ext uri="{FF2B5EF4-FFF2-40B4-BE49-F238E27FC236}">
                <a16:creationId xmlns:a16="http://schemas.microsoft.com/office/drawing/2014/main" id="{DFC27AFC-A088-8761-FD4E-581AEA8D4DE7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D8AA2C5C-1FAF-96CB-9B21-85FD1F7A5EFD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CBE36994-1206-6FF8-78CF-A57E83E1368F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6A279299-7049-17F8-DB1F-811C4F5E4CA1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5" name="Forma Livre: Forma 94">
            <a:extLst>
              <a:ext uri="{FF2B5EF4-FFF2-40B4-BE49-F238E27FC236}">
                <a16:creationId xmlns:a16="http://schemas.microsoft.com/office/drawing/2014/main" id="{8B657578-DCE5-27FB-8204-A3D62154D90E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2FAE40D5-871E-D6F2-3D0B-A9369B77575A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2.jpeg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99EA858-7D37-4CD7-B0F8-FCEE9937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1272" y="0"/>
            <a:ext cx="12559151" cy="67553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FC726F-A059-4333-AA23-8457DC238883}"/>
              </a:ext>
            </a:extLst>
          </p:cNvPr>
          <p:cNvSpPr/>
          <p:nvPr/>
        </p:nvSpPr>
        <p:spPr>
          <a:xfrm>
            <a:off x="-177281" y="168152"/>
            <a:ext cx="583377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continuar utilizand</a:t>
            </a:r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 o pandas</a:t>
            </a:r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...</a:t>
            </a:r>
            <a:endParaRPr lang="pt-BR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Balão de Pensamento: Nuvem 7">
            <a:extLst>
              <a:ext uri="{FF2B5EF4-FFF2-40B4-BE49-F238E27FC236}">
                <a16:creationId xmlns:a16="http://schemas.microsoft.com/office/drawing/2014/main" id="{CEE9705F-4E32-40FD-9D4A-7D198AB43FD9}"/>
              </a:ext>
            </a:extLst>
          </p:cNvPr>
          <p:cNvSpPr/>
          <p:nvPr/>
        </p:nvSpPr>
        <p:spPr>
          <a:xfrm>
            <a:off x="7265373" y="168152"/>
            <a:ext cx="5122506" cy="1586204"/>
          </a:xfrm>
          <a:prstGeom prst="cloudCallout">
            <a:avLst>
              <a:gd name="adj1" fmla="val -67281"/>
              <a:gd name="adj2" fmla="val 34265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Ainda bem que é o último encontro desta UC! O que será que vai acontecer na última aula?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8710280-38D8-4FF4-B628-37F1520DA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76" y="3285523"/>
            <a:ext cx="5122507" cy="288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71A059-3549-4FFA-B435-D0D04E299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73" y="489857"/>
            <a:ext cx="3737688" cy="384447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08CB95A-C74C-41A7-9A1C-5FE513910B60}"/>
              </a:ext>
            </a:extLst>
          </p:cNvPr>
          <p:cNvSpPr/>
          <p:nvPr/>
        </p:nvSpPr>
        <p:spPr>
          <a:xfrm>
            <a:off x="4769181" y="2967335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X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4CF2BCD-20BA-4BB0-B90D-78AC4D3F2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247" y="3429000"/>
            <a:ext cx="5926753" cy="275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4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AAB15F4-DF25-4C5F-9838-23D094DB7880}"/>
              </a:ext>
            </a:extLst>
          </p:cNvPr>
          <p:cNvSpPr/>
          <p:nvPr/>
        </p:nvSpPr>
        <p:spPr>
          <a:xfrm>
            <a:off x="0" y="626226"/>
            <a:ext cx="7971453" cy="2118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análise de dados é o processo de examinar, limpar, transformar e modelar dados para extrair informações úteis, identificar padrões e apoiar a tomada de decisões. Ela transforma números e informações brutas em insights acionáveis que ajudam empresas e organizações a otimizar processos, prever tendências e resolver problemas. 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14A92E-94C5-4555-8BBB-DDE3AABE6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723" y="2744755"/>
            <a:ext cx="6282612" cy="392663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8A2851C-52EE-420F-B436-EEBFD22D1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339" y="492899"/>
            <a:ext cx="2861121" cy="188834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F352968-BA9E-4BC6-B44A-BF67D35011CA}"/>
              </a:ext>
            </a:extLst>
          </p:cNvPr>
          <p:cNvSpPr/>
          <p:nvPr/>
        </p:nvSpPr>
        <p:spPr>
          <a:xfrm>
            <a:off x="1911688" y="-56763"/>
            <a:ext cx="52148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Análise de Dados</a:t>
            </a:r>
          </a:p>
        </p:txBody>
      </p:sp>
    </p:spTree>
    <p:extLst>
      <p:ext uri="{BB962C8B-B14F-4D97-AF65-F5344CB8AC3E}">
        <p14:creationId xmlns:p14="http://schemas.microsoft.com/office/powerpoint/2010/main" val="116220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981069-8CA3-4399-9B47-23D288D31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62" y="-152976"/>
            <a:ext cx="7458272" cy="71639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Como funciona?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Coleta: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Reúne dados de diversas fontes, que podem ser quantitativos (números) ou qualitativos (descrições).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Limpeza: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Corrige erros, remove duplicatas, preenche lacunas e descarta dados irrelevantes para garantir a precisão da análise.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Transformação: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Modela e organiza os dados para torná-los adequados para análise e visualização.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Análise: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Utiliza técnicas estatísticas, mineração de dados e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machine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learning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para identificar padrões, tendências e relações.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Interpretação: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Traduz os resultados da análise em informações compreensíveis e relevantes para o objetivo definido.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Visualização: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Apresenta os dados de forma clara através de gráficos (como de linhas, barras ou mapas de calor) para facilitar a comunicação dos resultados. 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855E45-978E-4852-8A8B-F0F1390E1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730" y="1022479"/>
            <a:ext cx="4484915" cy="280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2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55D3A6-089A-4A1B-9920-F4F005FA1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90" y="69023"/>
            <a:ext cx="8173616" cy="67889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Principais aplicações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Tomada de decisões informadas: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Permite que empresas substituam suposições por decisões baseadas em evidências.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Otimização de processos: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Ajuda a identificar gargalos e ineficiências em operações, como na manufatura, para aumentar a produtividade e reduzir custos.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Previsão de tendências: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Permite prever vendas, comportamento do consumidor e falhas de equipamentos antes que ocorram.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Personalização: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Ajuda a entender as preferências dos clientes para personalizar a experiência e as estratégias de marketing.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Melhora de desempenho: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Em áreas como a educacional, pode-se analisar o progresso e identificar políticas ou métodos eficazes. 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4C67472-847A-48BB-9CCE-DD8D43792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906" y="1735494"/>
            <a:ext cx="4002833" cy="286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6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D375494-A6E2-4F93-BE67-212DF039723E}"/>
              </a:ext>
            </a:extLst>
          </p:cNvPr>
          <p:cNvSpPr/>
          <p:nvPr/>
        </p:nvSpPr>
        <p:spPr>
          <a:xfrm>
            <a:off x="127518" y="912569"/>
            <a:ext cx="7822163" cy="294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banco de dados é uma coleção organizada de informações estruturadas, geralmente armazenadas eletronicamente, que permite coletar, armazenar, gerenciar e recuperar dados de forma eficiente. Ele é usado para guardar diversos tipos de dados, como textos, números, imagens e vídeos, facilitando o acesso, a busca e a análise de informações por meio de um software chamado sistema de gerenciamento de banco de dados (SGBD). 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DD3D186-D815-476A-9C5B-F79AB9CD0705}"/>
              </a:ext>
            </a:extLst>
          </p:cNvPr>
          <p:cNvSpPr/>
          <p:nvPr/>
        </p:nvSpPr>
        <p:spPr>
          <a:xfrm>
            <a:off x="2086508" y="-56763"/>
            <a:ext cx="48652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Banco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2168F1-8431-4CEB-9864-40AAA990D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076" y="550504"/>
            <a:ext cx="3209731" cy="320973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9363587-EBED-4BEE-B03C-5B70232D1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738" y="3760235"/>
            <a:ext cx="4119590" cy="300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8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2F0269-5857-4F27-8224-F4336D7BB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33" y="683848"/>
            <a:ext cx="7557797" cy="42959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Funções e características principais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Organização: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 dados de forma estruturada, como em tabelas, com informações relacionadas, nomes, endereços e números de telefone.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Armazenamento: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Guarda informações de maneira centralizada e segura.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Recuperação: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Permite que os usuários encontrem e acessem dados de forma rápida e precisa.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Gerenciamento: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Habilita a adição, leitura, modificação e exclusão de dados.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Automação: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Ajuda a automatizar processos e tarefas, como gerar indicadores de desempenho em uma empresa. 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A636509-C52B-4A08-8B1B-D830BAA21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778" y="905068"/>
            <a:ext cx="3209731" cy="32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5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175BB5-2C08-4CCA-B505-40CEA841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860"/>
            <a:ext cx="8546841" cy="554248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Exemplos de uso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Empresas: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Para gerenciar informações de clientes, vendas e outras operações.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Aplicações web: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Plataformas como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Airbnb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Uber e YouTube usam bancos de dados para gerenciar seus dados.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Sistemas de saúde: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Para armazenar registros médicos.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Tipos de banco de dados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Existem diversos tipos, como os mais comuns: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Relacionais: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Armazenam dados em tabelas com relações definidas entre elas.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NoSQL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Um termo amplo para bancos de dados não relacionais.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Documentos: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 Armazenam dados em formatos como JSON ou XML. 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A8C473D-BBF5-4187-BBD6-A135D1E2D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003" y="1688840"/>
            <a:ext cx="3209731" cy="32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A890CE4-B7B2-477C-871B-94A9B7649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115009"/>
            <a:ext cx="8001000" cy="36576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421B35E-B796-4DCC-99CF-9C3A917F85C0}"/>
              </a:ext>
            </a:extLst>
          </p:cNvPr>
          <p:cNvSpPr/>
          <p:nvPr/>
        </p:nvSpPr>
        <p:spPr>
          <a:xfrm rot="19916468">
            <a:off x="-237034" y="1116427"/>
            <a:ext cx="49776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Mão na massa...</a:t>
            </a:r>
          </a:p>
        </p:txBody>
      </p:sp>
    </p:spTree>
    <p:extLst>
      <p:ext uri="{BB962C8B-B14F-4D97-AF65-F5344CB8AC3E}">
        <p14:creationId xmlns:p14="http://schemas.microsoft.com/office/powerpoint/2010/main" val="148787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2DE2D7E-082D-4753-A572-B419EC810B8A}"/>
              </a:ext>
            </a:extLst>
          </p:cNvPr>
          <p:cNvSpPr/>
          <p:nvPr/>
        </p:nvSpPr>
        <p:spPr>
          <a:xfrm>
            <a:off x="2561661" y="323466"/>
            <a:ext cx="27765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Atenção: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2627C1-394A-45E1-9F9D-AE83FE64F1CF}"/>
              </a:ext>
            </a:extLst>
          </p:cNvPr>
          <p:cNvSpPr txBox="1"/>
          <p:nvPr/>
        </p:nvSpPr>
        <p:spPr>
          <a:xfrm>
            <a:off x="475860" y="1246796"/>
            <a:ext cx="7380516" cy="5442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Utilizaremos o banco de dados  MYSQL para os nossos exercícios de hoje. O MySQL é um banco de dados muito usado nos aplicativos de e-commerce que exigem o gerenciamento de usuários, informações de consumidores, dados financeiros e análise de tendências para evitar atividades fraudulentas.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Verifique se tem MYSQL instalado na sua máquina. Procure os programas XAMPP e Workbench.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(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Query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é uma linguagem de consulta estruturada usada para gerenciar e interagir com bancos de dados relacionais. Ela permite realizar operações como criar, ler, atualizar e deletar dados (CRUD), além de manipular a estrutura do banco de dados, criar tabelas, definir relações entre elas e controlar o acesso dos usuários.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C66E553-EB66-4E6F-9AAB-BAFF32C06F80}"/>
              </a:ext>
            </a:extLst>
          </p:cNvPr>
          <p:cNvSpPr/>
          <p:nvPr/>
        </p:nvSpPr>
        <p:spPr>
          <a:xfrm>
            <a:off x="1452466" y="429666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B370DDD-A8FA-43F9-B9E9-E7FEECD9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975" y="1363357"/>
            <a:ext cx="3564294" cy="23613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11FCBAC-B940-465D-9C5F-28B5E2453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072" y="4313970"/>
            <a:ext cx="308610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9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3106430-3C8D-4202-9027-1DD1B2ACD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335" y="531650"/>
            <a:ext cx="7924800" cy="321945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9E19F35-FBBF-43DC-9DAF-C8D82E9C2112}"/>
              </a:ext>
            </a:extLst>
          </p:cNvPr>
          <p:cNvSpPr/>
          <p:nvPr/>
        </p:nvSpPr>
        <p:spPr>
          <a:xfrm>
            <a:off x="108855" y="4049115"/>
            <a:ext cx="10182809" cy="2534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XAMPP é um pacote de software gratuito e de código aberto que instala um servidor web local, facilitando o desenvolvimento e teste de websites e aplicações web antes de publicá-los em um servidor real. Ele combina quatro componentes principais: um servidor web Apache, um banco de dados MySQL (ou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MariaDB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e as linguagens de programação PHP e Perl, o que o torna uma solução completa para criar ambientes de desenvolvimento em sistemas operacionais como Windows, Linux 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macOS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78CCF9F-69DA-4C6C-9723-6B19A271F392}"/>
              </a:ext>
            </a:extLst>
          </p:cNvPr>
          <p:cNvSpPr txBox="1"/>
          <p:nvPr/>
        </p:nvSpPr>
        <p:spPr>
          <a:xfrm>
            <a:off x="2270448" y="1760165"/>
            <a:ext cx="3573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Abra 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Clique em:</a:t>
            </a: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do Apache</a:t>
            </a: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do MYSQL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698BB863-4494-48A6-B8F9-00A705A67D27}"/>
              </a:ext>
            </a:extLst>
          </p:cNvPr>
          <p:cNvCxnSpPr/>
          <p:nvPr/>
        </p:nvCxnSpPr>
        <p:spPr>
          <a:xfrm flipV="1">
            <a:off x="4057260" y="2024743"/>
            <a:ext cx="3677818" cy="485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3C9C1788-9B19-47D7-A168-2A84CD44E89E}"/>
              </a:ext>
            </a:extLst>
          </p:cNvPr>
          <p:cNvCxnSpPr>
            <a:cxnSpLocks/>
          </p:cNvCxnSpPr>
          <p:nvPr/>
        </p:nvCxnSpPr>
        <p:spPr>
          <a:xfrm flipV="1">
            <a:off x="4186335" y="2314061"/>
            <a:ext cx="3677818" cy="460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40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EC7AEDF-C801-44AE-8927-DD42F725BE1D}"/>
              </a:ext>
            </a:extLst>
          </p:cNvPr>
          <p:cNvSpPr/>
          <p:nvPr/>
        </p:nvSpPr>
        <p:spPr>
          <a:xfrm>
            <a:off x="174171" y="1177188"/>
            <a:ext cx="7635551" cy="295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software Apache, mais conhecido como 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Apache HTTP Server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é um servidor web gratuito e de código aberto que possibilita o acesso a sites na internet ao controlar as interações entre servidores e navegadores. Mantido pela 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Apache Software Foundation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ele entrega conteúdo como páginas, imagens e vídeos e é amplamente utilizado por sua flexibilidade, confiabilidade e segurança, além de ser compatível com vários sistemas operacionais e tecnologias, como PHP e Python. 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41D5931-8C47-4ABE-95F2-D34742AD4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856" y="1205495"/>
            <a:ext cx="2686050" cy="1647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C57D4DF-71D2-4B98-920C-2BD231682EC5}"/>
              </a:ext>
            </a:extLst>
          </p:cNvPr>
          <p:cNvSpPr/>
          <p:nvPr/>
        </p:nvSpPr>
        <p:spPr>
          <a:xfrm>
            <a:off x="3326620" y="0"/>
            <a:ext cx="23663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Apache</a:t>
            </a:r>
          </a:p>
        </p:txBody>
      </p:sp>
    </p:spTree>
    <p:extLst>
      <p:ext uri="{BB962C8B-B14F-4D97-AF65-F5344CB8AC3E}">
        <p14:creationId xmlns:p14="http://schemas.microsoft.com/office/powerpoint/2010/main" val="259025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1780C0E-53E3-4195-9EC5-B2DA4B11B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457" y="879031"/>
            <a:ext cx="7369543" cy="474732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D3E5BF7-B822-4BAA-8AED-F70FF9B92463}"/>
              </a:ext>
            </a:extLst>
          </p:cNvPr>
          <p:cNvSpPr txBox="1"/>
          <p:nvPr/>
        </p:nvSpPr>
        <p:spPr>
          <a:xfrm>
            <a:off x="755779" y="2023576"/>
            <a:ext cx="3936049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Abra o Workbench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Clique em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MySQL Connections</a:t>
            </a:r>
          </a:p>
          <a:p>
            <a:pPr>
              <a:lnSpc>
                <a:spcPct val="150000"/>
              </a:lnSpc>
            </a:pP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Workbench se refere a uma ferramenta de software ou a uma plataforma que integra um conjunto de funções relacionadas a um projeto ou tarefa específica, como o 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 Workbench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para gerenciamento de banco de dados.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0C0E750-12F7-4D60-A5B3-6D2825FE630C}"/>
              </a:ext>
            </a:extLst>
          </p:cNvPr>
          <p:cNvCxnSpPr>
            <a:cxnSpLocks/>
          </p:cNvCxnSpPr>
          <p:nvPr/>
        </p:nvCxnSpPr>
        <p:spPr>
          <a:xfrm>
            <a:off x="4544008" y="2817845"/>
            <a:ext cx="2565919" cy="14182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9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33CE120-5108-4983-9B6F-7F0AFD864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967" y="473918"/>
            <a:ext cx="7787173" cy="486698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BA95952-48E0-477E-885B-F93E36ADD93D}"/>
              </a:ext>
            </a:extLst>
          </p:cNvPr>
          <p:cNvSpPr txBox="1"/>
          <p:nvPr/>
        </p:nvSpPr>
        <p:spPr>
          <a:xfrm>
            <a:off x="242596" y="923731"/>
            <a:ext cx="3648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Escreva o nome de sua conexão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F9273CB-8DDA-442A-B82D-EB303782F082}"/>
              </a:ext>
            </a:extLst>
          </p:cNvPr>
          <p:cNvCxnSpPr>
            <a:stCxn id="3" idx="3"/>
          </p:cNvCxnSpPr>
          <p:nvPr/>
        </p:nvCxnSpPr>
        <p:spPr>
          <a:xfrm flipV="1">
            <a:off x="3890866" y="1026367"/>
            <a:ext cx="979714" cy="820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CE6CFF-3B6D-4856-AE33-8E5464A852CD}"/>
              </a:ext>
            </a:extLst>
          </p:cNvPr>
          <p:cNvSpPr txBox="1"/>
          <p:nvPr/>
        </p:nvSpPr>
        <p:spPr>
          <a:xfrm>
            <a:off x="320351" y="1593585"/>
            <a:ext cx="3309257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Hostname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um endereço padrão para um trabalho local.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porta que usamos é: 3306. Padrão para utilizar 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ambiente do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D2C0736-769A-4DB1-B5E5-937E4FF1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51" y="3817277"/>
            <a:ext cx="4231432" cy="289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7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A1615B6-999D-4A9A-BD13-AD8E4AF01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269" y="292060"/>
            <a:ext cx="4352767" cy="329653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3973C13-EB5C-4312-84E3-65001AE1B693}"/>
              </a:ext>
            </a:extLst>
          </p:cNvPr>
          <p:cNvSpPr txBox="1"/>
          <p:nvPr/>
        </p:nvSpPr>
        <p:spPr>
          <a:xfrm>
            <a:off x="606490" y="447676"/>
            <a:ext cx="364827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Clique em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connection e logo após dê OK na mensagem de confirmação da conexão com sucesso!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3AB9795-DBDB-4336-8E1C-E7A13328C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65" y="4456374"/>
            <a:ext cx="5040882" cy="1888442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1D265BAB-B75B-42CD-93C0-019683516219}"/>
              </a:ext>
            </a:extLst>
          </p:cNvPr>
          <p:cNvCxnSpPr/>
          <p:nvPr/>
        </p:nvCxnSpPr>
        <p:spPr>
          <a:xfrm flipH="1" flipV="1">
            <a:off x="1492898" y="5747657"/>
            <a:ext cx="2062065" cy="2146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EF259FF1-E739-4346-986A-73C99C44C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852" y="4044213"/>
            <a:ext cx="3448944" cy="224121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5DCE0C2-5174-48E7-BC2E-9C62243A3A4D}"/>
              </a:ext>
            </a:extLst>
          </p:cNvPr>
          <p:cNvSpPr txBox="1"/>
          <p:nvPr/>
        </p:nvSpPr>
        <p:spPr>
          <a:xfrm>
            <a:off x="3554963" y="5639095"/>
            <a:ext cx="1810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Clique na conexão criada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45C7639-6F55-43AA-857A-1151380FEE2E}"/>
              </a:ext>
            </a:extLst>
          </p:cNvPr>
          <p:cNvCxnSpPr>
            <a:cxnSpLocks/>
          </p:cNvCxnSpPr>
          <p:nvPr/>
        </p:nvCxnSpPr>
        <p:spPr>
          <a:xfrm>
            <a:off x="7277878" y="5327780"/>
            <a:ext cx="1726163" cy="7868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C227685-58FA-4883-B4F8-539433269F7A}"/>
              </a:ext>
            </a:extLst>
          </p:cNvPr>
          <p:cNvSpPr txBox="1"/>
          <p:nvPr/>
        </p:nvSpPr>
        <p:spPr>
          <a:xfrm>
            <a:off x="5358863" y="5004614"/>
            <a:ext cx="1810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Clique em continue </a:t>
            </a:r>
            <a:r>
              <a:rPr lang="pt-BR" dirty="0" err="1">
                <a:solidFill>
                  <a:schemeClr val="bg1"/>
                </a:solidFill>
              </a:rPr>
              <a:t>anyway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73FFB52-C559-4512-8059-07284DBD6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2689" y="1527982"/>
            <a:ext cx="1762821" cy="82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8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AADCAD4-3EF8-4DC1-B7F5-EA15E8F334B2}"/>
              </a:ext>
            </a:extLst>
          </p:cNvPr>
          <p:cNvSpPr txBox="1"/>
          <p:nvPr/>
        </p:nvSpPr>
        <p:spPr>
          <a:xfrm>
            <a:off x="354563" y="345233"/>
            <a:ext cx="7044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Vamos digitar o script do banco e da tabela.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9B190D-BA40-40E7-A284-C9BB825F985C}"/>
              </a:ext>
            </a:extLst>
          </p:cNvPr>
          <p:cNvSpPr/>
          <p:nvPr/>
        </p:nvSpPr>
        <p:spPr>
          <a:xfrm>
            <a:off x="348288" y="823671"/>
            <a:ext cx="3185487" cy="8720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aulaPandas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 o banco de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15349A-2177-4FC7-91DB-C2EFF95D5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775" y="2270455"/>
            <a:ext cx="2562225" cy="40957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15CA28E-5C11-4CF7-8680-00D00DB61401}"/>
              </a:ext>
            </a:extLst>
          </p:cNvPr>
          <p:cNvSpPr txBox="1"/>
          <p:nvPr/>
        </p:nvSpPr>
        <p:spPr>
          <a:xfrm>
            <a:off x="4722432" y="4832064"/>
            <a:ext cx="3955037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esqueça nunca de separa os campos por vírgula (,) e no final de cada script não esqueça do ponto e vírgula (;) que significa fim de comando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3085613-FA37-4247-B2C2-EB623ED83EF0}"/>
              </a:ext>
            </a:extLst>
          </p:cNvPr>
          <p:cNvCxnSpPr>
            <a:cxnSpLocks/>
          </p:cNvCxnSpPr>
          <p:nvPr/>
        </p:nvCxnSpPr>
        <p:spPr>
          <a:xfrm>
            <a:off x="2723745" y="2582966"/>
            <a:ext cx="810030" cy="202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5713B79B-9A55-49B8-B8FD-348017585BEC}"/>
              </a:ext>
            </a:extLst>
          </p:cNvPr>
          <p:cNvSpPr/>
          <p:nvPr/>
        </p:nvSpPr>
        <p:spPr>
          <a:xfrm>
            <a:off x="311322" y="2859760"/>
            <a:ext cx="5634876" cy="8720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aulaPandas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Abre o banco de dados para criar o restante do script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BF67EBA-0EA8-4855-96AE-5674BB746935}"/>
              </a:ext>
            </a:extLst>
          </p:cNvPr>
          <p:cNvSpPr/>
          <p:nvPr/>
        </p:nvSpPr>
        <p:spPr>
          <a:xfrm>
            <a:off x="311322" y="3866431"/>
            <a:ext cx="5766434" cy="294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criar a tabela: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odontologia(	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(100),    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titulacao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(100),    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registroProfissional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(100),    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uf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(2),    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municipio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(100));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9DE9400-7709-41F4-9F81-8DC94F519F26}"/>
              </a:ext>
            </a:extLst>
          </p:cNvPr>
          <p:cNvSpPr txBox="1"/>
          <p:nvPr/>
        </p:nvSpPr>
        <p:spPr>
          <a:xfrm>
            <a:off x="348288" y="1868746"/>
            <a:ext cx="248194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cada comando clique em: Execute...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29979EF-3079-4A7C-A90B-FC7AF53138E4}"/>
              </a:ext>
            </a:extLst>
          </p:cNvPr>
          <p:cNvGrpSpPr/>
          <p:nvPr/>
        </p:nvGrpSpPr>
        <p:grpSpPr>
          <a:xfrm>
            <a:off x="6434039" y="827417"/>
            <a:ext cx="5276850" cy="3705225"/>
            <a:chOff x="6434039" y="827417"/>
            <a:chExt cx="5276850" cy="3705225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5486060D-ABF0-40C2-96C7-0FADEB9F0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4039" y="827417"/>
              <a:ext cx="5276850" cy="3705225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C269E9F0-0267-4351-A717-BC41FAA11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52283" y="1667990"/>
              <a:ext cx="5258606" cy="28646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47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F2E4C6-80A3-4B3A-8E04-B952E0E83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918" y="-173238"/>
            <a:ext cx="8939719" cy="72044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Tipos de dados comuns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Numéricos: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Inteiros: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Armazenam números inteiros, como INT e SMALLINT.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Ponto flutuante: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Armazenam números com casas decimais, como FLOAT e REAL.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Textuais e de caracteres: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VARCHAR: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 caracteres de comprimento variável.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CHAR: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 caracteres de comprimento fixo.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 longas cadeias de texto.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e hora: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 apenas a data no formato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aaaa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-MM-dd.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 a hora, minutos e segundos.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DATETIME ou TIMESTAMP: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 data e hora juntas.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Binários: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BLOB (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Usado para armazenar dados binários grandes, como imagens ou arquivos.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VARBINARY: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Armazena dados binários de tamanho variável. 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41B13E-890E-4EA1-9F01-0E02FD85D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382" y="694597"/>
            <a:ext cx="5468805" cy="546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3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0D65704-021C-4EB0-93A0-D794E25CF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61" y="923827"/>
            <a:ext cx="7839075" cy="18192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D29E881-7241-4A6D-887E-2BF36EC4EC14}"/>
              </a:ext>
            </a:extLst>
          </p:cNvPr>
          <p:cNvSpPr txBox="1"/>
          <p:nvPr/>
        </p:nvSpPr>
        <p:spPr>
          <a:xfrm>
            <a:off x="391886" y="307910"/>
            <a:ext cx="656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Agora vamos carregar um arquivo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banco de dados: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DE4D0E-8062-4D4F-8C8F-2F663CE3B49B}"/>
              </a:ext>
            </a:extLst>
          </p:cNvPr>
          <p:cNvSpPr txBox="1"/>
          <p:nvPr/>
        </p:nvSpPr>
        <p:spPr>
          <a:xfrm>
            <a:off x="298580" y="2743102"/>
            <a:ext cx="8406881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Infile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indica o endereço do arquivo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nome_da_tabela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indica para carregar dentro da tabela criada.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 SET latin1: trata os caracteres especiais.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Terminated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indica o (;) para dividir as colunas por campo.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Enclosed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ajuda a terminação de cada coluna com as linhas inseridas.</a:t>
            </a:r>
          </a:p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Terminated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‘r\n’ : indica o fim da linha no arquivo.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: retorna o início da linha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n: pula uma linha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Ignore 1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serve para pular a primeira linha porque no arquivo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já contém um cabeçalho e ele ignora este cabeçalho.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6F3BF0-310C-4CFC-B0F7-5F1378978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890" y="2140209"/>
            <a:ext cx="381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1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C70D316-8687-47F3-9ADC-87B23F36154C}"/>
              </a:ext>
            </a:extLst>
          </p:cNvPr>
          <p:cNvSpPr txBox="1"/>
          <p:nvPr/>
        </p:nvSpPr>
        <p:spPr>
          <a:xfrm>
            <a:off x="93306" y="261159"/>
            <a:ext cx="8938727" cy="585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agora vamos ao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Vscode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Abra a pasta onde você está trabalhando a aula com pandas.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Ative a pasta virtual: virtual\Scripts\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activate</a:t>
            </a: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Instale a biblioteca para a leitura do banco no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Vscode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pandas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pymysql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uma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biblioteca Python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usada para trabalhar com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bancos de dados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 permite: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conectar ao banco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executar comandos SQL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criar tabelas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inserir, atualizar e excluir dados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consultar informações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usar ORM (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4A77D5C-FBBE-4D36-A09E-4747A9CF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32" y="274864"/>
            <a:ext cx="8849412" cy="337340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BBDA541-1AE0-49ED-A6DE-940666C6F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422" y="384499"/>
            <a:ext cx="2714625" cy="2667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3456557-2613-402A-8A71-3D5BCB5F0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48" y="3978533"/>
            <a:ext cx="8352695" cy="152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37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BDDDEAF-4201-464E-A8AF-44A5B67A80D6}"/>
              </a:ext>
            </a:extLst>
          </p:cNvPr>
          <p:cNvSpPr/>
          <p:nvPr/>
        </p:nvSpPr>
        <p:spPr>
          <a:xfrm>
            <a:off x="236093" y="537420"/>
            <a:ext cx="38074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QUE BOM!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21FA901-6A36-443F-88CC-497B797D248A}"/>
              </a:ext>
            </a:extLst>
          </p:cNvPr>
          <p:cNvSpPr/>
          <p:nvPr/>
        </p:nvSpPr>
        <p:spPr>
          <a:xfrm>
            <a:off x="1803480" y="3015321"/>
            <a:ext cx="33474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QUE TAL!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8B26131-C75F-4538-85C5-AF3AEB5C6EE4}"/>
              </a:ext>
            </a:extLst>
          </p:cNvPr>
          <p:cNvSpPr/>
          <p:nvPr/>
        </p:nvSpPr>
        <p:spPr>
          <a:xfrm>
            <a:off x="3096433" y="4895662"/>
            <a:ext cx="39356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QUE PENA!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D537377-8566-4027-9833-0C1CDA763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018" y="537420"/>
            <a:ext cx="1656000" cy="1656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43F9A36-2532-4E69-A0C1-153608D63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57627"/>
            <a:ext cx="1656000" cy="1656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A684FF5-EF99-4107-BF32-8D9D139C4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866" y="4734397"/>
            <a:ext cx="1656000" cy="16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3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SharedWithUsers xmlns="29c85e31-c0e5-4fba-ab60-4fce8ca17cbc">
      <UserInfo>
        <DisplayName/>
        <AccountId xsi:nil="true"/>
        <AccountType/>
      </UserInfo>
    </SharedWithUsers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D73A89-B988-4509-83B7-FFB36E49DC45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a781f388-7a10-472b-91d8-f6ba0302cf91"/>
    <ds:schemaRef ds:uri="9b06ae4b-c05d-45e7-9862-552d1f33da7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C0AF7D-F6E8-4E5C-A18F-4AA09B39EF3A}"/>
</file>

<file path=docProps/app.xml><?xml version="1.0" encoding="utf-8"?>
<Properties xmlns="http://schemas.openxmlformats.org/officeDocument/2006/extended-properties" xmlns:vt="http://schemas.openxmlformats.org/officeDocument/2006/docPropsVTypes">
  <TotalTime>2382</TotalTime>
  <Words>1516</Words>
  <Application>Microsoft Office PowerPoint</Application>
  <PresentationFormat>Widescreen</PresentationFormat>
  <Paragraphs>122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Calibri</vt:lpstr>
      <vt:lpstr>Arial</vt:lpstr>
      <vt:lpstr>Gotham Black</vt:lpstr>
      <vt:lpstr>Arial Black</vt:lpstr>
      <vt:lpstr>Gotham</vt:lpstr>
      <vt:lpstr>Abril Fatface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Clayton da Silva Oliveira</cp:lastModifiedBy>
  <cp:revision>230</cp:revision>
  <cp:lastPrinted>2018-05-14T08:23:45Z</cp:lastPrinted>
  <dcterms:created xsi:type="dcterms:W3CDTF">2018-05-13T00:15:53Z</dcterms:created>
  <dcterms:modified xsi:type="dcterms:W3CDTF">2026-02-27T19:38:12Z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