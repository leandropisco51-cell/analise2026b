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84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41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  <p:bold r:id="rId28"/>
      <p:italic r:id="rId29"/>
      <p:boldItalic r:id="rId30"/>
    </p:embeddedFont>
    <p:embeddedFont>
      <p:font typeface="Gotham Black" charset="0"/>
      <p:regular r:id="rId31"/>
      <p:bold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0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02/11/2025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7.png"/><Relationship Id="rId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281" y="-74645"/>
            <a:ext cx="12565160" cy="704461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424731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lembrar?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Lista</a:t>
            </a:r>
          </a:p>
          <a:p>
            <a:pPr algn="ctr"/>
            <a:r>
              <a:rPr lang="pt-BR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Tuplas</a:t>
            </a:r>
            <a:endParaRPr lang="pt-B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Set</a:t>
            </a:r>
          </a:p>
          <a:p>
            <a:pPr algn="ctr"/>
            <a:r>
              <a:rPr lang="pt-BR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Dicionário</a:t>
            </a: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33362" y="17748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Dessa vez é muita lembrança.</a:t>
            </a:r>
          </a:p>
          <a:p>
            <a:pPr algn="ctr"/>
            <a:r>
              <a:rPr lang="pt-BR" dirty="0"/>
              <a:t>Será que vou lembrar de tudo?</a:t>
            </a: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C9A68C-DB99-4470-AD69-88A81359854D}"/>
              </a:ext>
            </a:extLst>
          </p:cNvPr>
          <p:cNvSpPr/>
          <p:nvPr/>
        </p:nvSpPr>
        <p:spPr>
          <a:xfrm>
            <a:off x="286139" y="306652"/>
            <a:ext cx="7868816" cy="8720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Faça um algoritmos em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que mostre os números inteiros de 0 a 100 com 4 versões: lista, 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tupla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set e dicionário: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1A5617-5B5B-4DD2-A200-F7C236E1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759" y="1250788"/>
            <a:ext cx="4981575" cy="45243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E6A40A7-B5C8-4DE5-9826-8CAFC318F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680" y="967206"/>
            <a:ext cx="3427636" cy="5091537"/>
          </a:xfrm>
          <a:prstGeom prst="rect">
            <a:avLst/>
          </a:prstGeom>
        </p:spPr>
      </p:pic>
      <p:sp>
        <p:nvSpPr>
          <p:cNvPr id="8" name="Balão de Fala: Oval 7">
            <a:extLst>
              <a:ext uri="{FF2B5EF4-FFF2-40B4-BE49-F238E27FC236}">
                <a16:creationId xmlns:a16="http://schemas.microsoft.com/office/drawing/2014/main" id="{5D288336-2C08-4C69-99EB-48C6F6069B48}"/>
              </a:ext>
            </a:extLst>
          </p:cNvPr>
          <p:cNvSpPr/>
          <p:nvPr/>
        </p:nvSpPr>
        <p:spPr>
          <a:xfrm>
            <a:off x="9518877" y="419878"/>
            <a:ext cx="2808514" cy="2043404"/>
          </a:xfrm>
          <a:prstGeom prst="wedgeEllipseCallout">
            <a:avLst>
              <a:gd name="adj1" fmla="val -63358"/>
              <a:gd name="adj2" fmla="val 574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Pensou que seria algo maior. A resolução é simples!!!</a:t>
            </a:r>
          </a:p>
        </p:txBody>
      </p:sp>
    </p:spTree>
    <p:extLst>
      <p:ext uri="{BB962C8B-B14F-4D97-AF65-F5344CB8AC3E}">
        <p14:creationId xmlns:p14="http://schemas.microsoft.com/office/powerpoint/2010/main" val="303301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391B865-0757-4087-A650-0E26E8DDB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184" y="-645659"/>
            <a:ext cx="8020050" cy="566737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8189F5F-F10C-44A3-9273-7D6B0FA9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41" y="2476751"/>
            <a:ext cx="7333861" cy="29495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Uma função em um algoritmo é um bloco de código nomeado que realiza uma tarefa específica e retorna um valor após sua execução. Elas servem para modularizar o programa, reutilizar código e torná-lo mais legível, evitando repetição. A principal diferença entre uma função e um procedimento é que a função obrigatoriamente usa o comando retorne para devolver um resultado, enquanto um procedimento não retorna valor, mas pode modificar variáveis. 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36E98A7-E372-4B05-B8D1-D3CA3E6D63F0}"/>
              </a:ext>
            </a:extLst>
          </p:cNvPr>
          <p:cNvSpPr/>
          <p:nvPr/>
        </p:nvSpPr>
        <p:spPr>
          <a:xfrm>
            <a:off x="1534483" y="662673"/>
            <a:ext cx="25729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Funções</a:t>
            </a:r>
          </a:p>
        </p:txBody>
      </p:sp>
    </p:spTree>
    <p:extLst>
      <p:ext uri="{BB962C8B-B14F-4D97-AF65-F5344CB8AC3E}">
        <p14:creationId xmlns:p14="http://schemas.microsoft.com/office/powerpoint/2010/main" val="74163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3F68A5-F5B0-4965-A761-2B1653DA6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596" y="401166"/>
            <a:ext cx="7511143" cy="55424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Características principais de uma função: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Retorno de valor: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 função retorna um valor para quem a chamou, que pode ser usado em expressões ou atribuído a uma variável.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Obrigação de retornar: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O uso do comando retorne é obrigatório para indicar qual valor a função devolverá ao programa principal.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Parâmetros: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Uma função pode aceitar parâmetros, que são valores de entrada para processamento interno.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Reutilização de código: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Permite que um mesmo trecho de código seja executado várias vezes sem a necessidade de reescrevê-lo.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Modularização: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Divide o programa em partes lógicas menores e mais fáceis de entender.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Escopo local: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Variáveis declaradas dentro da função têm escopo local, o que significa que só existem e são acessíveis dentro do bloco da função. 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79F4699-CC17-4EE7-ACEF-C892FA4F5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679" y="401166"/>
            <a:ext cx="3410435" cy="50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5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0C3745-FAFD-48D6-8926-EEBF3B7B3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47" y="3601577"/>
            <a:ext cx="9937102" cy="21185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Uma função em Python é um bloco de código reutilizável que executa uma tarefa específica. Elas são definidas usando a palavra-chave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def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, seguidas por um nome, parênteses e dois pontos. Funções podem receber dados (parâmetros), processá-los e retornar um resultado usando a palavra-chave 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return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. Elas ajudam a organizar o código, torná-lo mais legível e a evitar repetições. 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97EDA7C-6626-48BE-8C53-E8DEEE3AE311}"/>
              </a:ext>
            </a:extLst>
          </p:cNvPr>
          <p:cNvSpPr/>
          <p:nvPr/>
        </p:nvSpPr>
        <p:spPr>
          <a:xfrm>
            <a:off x="614902" y="1847661"/>
            <a:ext cx="59236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Funções em Python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2DD2981-7891-4F13-B81A-834D17BC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726" y="1343648"/>
            <a:ext cx="1530220" cy="1530220"/>
          </a:xfrm>
          <a:prstGeom prst="rect">
            <a:avLst/>
          </a:prstGeom>
        </p:spPr>
      </p:pic>
      <p:sp>
        <p:nvSpPr>
          <p:cNvPr id="6" name="Balão de Fala: Oval 5">
            <a:extLst>
              <a:ext uri="{FF2B5EF4-FFF2-40B4-BE49-F238E27FC236}">
                <a16:creationId xmlns:a16="http://schemas.microsoft.com/office/drawing/2014/main" id="{AB0C00CB-11EA-41B9-8323-D16CF03A0CF1}"/>
              </a:ext>
            </a:extLst>
          </p:cNvPr>
          <p:cNvSpPr/>
          <p:nvPr/>
        </p:nvSpPr>
        <p:spPr>
          <a:xfrm>
            <a:off x="10702212" y="1492898"/>
            <a:ext cx="1530220" cy="746449"/>
          </a:xfrm>
          <a:prstGeom prst="wedgeEllipseCallout">
            <a:avLst>
              <a:gd name="adj1" fmla="val -91437"/>
              <a:gd name="adj2" fmla="val 61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Salve galera!</a:t>
            </a:r>
          </a:p>
        </p:txBody>
      </p:sp>
    </p:spTree>
    <p:extLst>
      <p:ext uri="{BB962C8B-B14F-4D97-AF65-F5344CB8AC3E}">
        <p14:creationId xmlns:p14="http://schemas.microsoft.com/office/powerpoint/2010/main" val="191839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8C82F3A-82E4-4EF6-8C10-F979322D9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1" y="836061"/>
            <a:ext cx="5019675" cy="26955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6171BC1-F3F7-4591-AE66-432B023D3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9" y="75178"/>
            <a:ext cx="9937102" cy="45653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Faça um algoritmo que le</a:t>
            </a:r>
            <a:r>
              <a:rPr lang="pt-BR" altLang="pt-BR" dirty="0">
                <a:solidFill>
                  <a:schemeClr val="bg1"/>
                </a:solidFill>
                <a:cs typeface="Arial" panose="020B0604020202020204" pitchFamily="34" charset="0"/>
              </a:rPr>
              <a:t>ia a entrada de dois números inteiros e faça a soma entre eles: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35183F-74EC-495C-A787-500B62E18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79" y="4125299"/>
            <a:ext cx="9937102" cy="87203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Com base no exemplo, implemente as funções de subtração, multiplicação, divisão e a média entre eles: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7165CB-5D70-4F5C-B237-AA654185A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726" y="1343648"/>
            <a:ext cx="1530220" cy="1530220"/>
          </a:xfrm>
          <a:prstGeom prst="rect">
            <a:avLst/>
          </a:prstGeom>
        </p:spPr>
      </p:pic>
      <p:sp>
        <p:nvSpPr>
          <p:cNvPr id="6" name="Balão de Fala: Oval 5">
            <a:extLst>
              <a:ext uri="{FF2B5EF4-FFF2-40B4-BE49-F238E27FC236}">
                <a16:creationId xmlns:a16="http://schemas.microsoft.com/office/drawing/2014/main" id="{93BBB528-348B-4D05-8C00-9C38D5DFB5FA}"/>
              </a:ext>
            </a:extLst>
          </p:cNvPr>
          <p:cNvSpPr/>
          <p:nvPr/>
        </p:nvSpPr>
        <p:spPr>
          <a:xfrm>
            <a:off x="10702211" y="1492898"/>
            <a:ext cx="1632857" cy="746449"/>
          </a:xfrm>
          <a:prstGeom prst="wedgeEllipseCallout">
            <a:avLst>
              <a:gd name="adj1" fmla="val -91437"/>
              <a:gd name="adj2" fmla="val 612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Você consegue!</a:t>
            </a:r>
          </a:p>
        </p:txBody>
      </p:sp>
    </p:spTree>
    <p:extLst>
      <p:ext uri="{BB962C8B-B14F-4D97-AF65-F5344CB8AC3E}">
        <p14:creationId xmlns:p14="http://schemas.microsoft.com/office/powerpoint/2010/main" val="163991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C8018485-2E34-4974-80E1-F14C63F9D76C}"/>
              </a:ext>
            </a:extLst>
          </p:cNvPr>
          <p:cNvGrpSpPr/>
          <p:nvPr/>
        </p:nvGrpSpPr>
        <p:grpSpPr>
          <a:xfrm>
            <a:off x="427848" y="1780786"/>
            <a:ext cx="5010150" cy="4819650"/>
            <a:chOff x="427848" y="328709"/>
            <a:chExt cx="5010150" cy="4819650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74FA6547-8376-4B56-8ED9-9CF9D7D12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848" y="328709"/>
              <a:ext cx="5010150" cy="4819650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DDA46D78-65BB-4BDB-B9C1-3E46F3EE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703" y="1080504"/>
              <a:ext cx="3419475" cy="180975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01D53E97-7898-4272-9726-64763FC43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703" y="1922786"/>
              <a:ext cx="3419475" cy="180975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3A9B925-C69E-4FE8-B2A6-BE683AAFB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702" y="2843990"/>
              <a:ext cx="3419475" cy="180975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5C995BB9-1E6F-4895-8F6D-99828006A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8701" y="4346218"/>
              <a:ext cx="3419475" cy="180975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33850FAA-C9F0-4413-842C-721945D53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998375"/>
            <a:ext cx="6248400" cy="493395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4440DE7-96F2-428E-A10C-FB1B1BCB4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086" y="-22160"/>
            <a:ext cx="1530220" cy="1530220"/>
          </a:xfrm>
          <a:prstGeom prst="rect">
            <a:avLst/>
          </a:prstGeom>
        </p:spPr>
      </p:pic>
      <p:sp>
        <p:nvSpPr>
          <p:cNvPr id="12" name="Balão de Fala: Oval 11">
            <a:extLst>
              <a:ext uri="{FF2B5EF4-FFF2-40B4-BE49-F238E27FC236}">
                <a16:creationId xmlns:a16="http://schemas.microsoft.com/office/drawing/2014/main" id="{8CBA0A25-5588-452D-B9CC-2BAEF07E32E2}"/>
              </a:ext>
            </a:extLst>
          </p:cNvPr>
          <p:cNvSpPr/>
          <p:nvPr/>
        </p:nvSpPr>
        <p:spPr>
          <a:xfrm>
            <a:off x="2724539" y="-22159"/>
            <a:ext cx="2855167" cy="1652684"/>
          </a:xfrm>
          <a:prstGeom prst="wedgeEllipseCallout">
            <a:avLst>
              <a:gd name="adj1" fmla="val -82924"/>
              <a:gd name="adj2" fmla="val 88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Eu falei que você pode e pode mesmo! Veja como é descomplicado</a:t>
            </a:r>
          </a:p>
        </p:txBody>
      </p:sp>
    </p:spTree>
    <p:extLst>
      <p:ext uri="{BB962C8B-B14F-4D97-AF65-F5344CB8AC3E}">
        <p14:creationId xmlns:p14="http://schemas.microsoft.com/office/powerpoint/2010/main" val="215402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E1834AE-15C6-4399-96F4-E195F96E0D86}"/>
              </a:ext>
            </a:extLst>
          </p:cNvPr>
          <p:cNvSpPr/>
          <p:nvPr/>
        </p:nvSpPr>
        <p:spPr>
          <a:xfrm>
            <a:off x="136848" y="979714"/>
            <a:ext cx="7448939" cy="3788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Calibri" panose="020F0502020204030204" pitchFamily="34" charset="0"/>
              </a:rPr>
              <a:t>Criar um programa que ajude um pescador a controlar sua produtividade. Toda vez que ele traz um peso de peixes maior que o estabelecido pelo regulamento de pesca do estado de Santa Catarina (100 quilos), deve pagar uma multa de R$ 4,00 por quilo excedente. O pescador precisa que você faça um programa que leia o peso de peixes pescados no dia e verifique se há excesso. Se houver peso excedente, mostrar o valor que ele pagará de multa; caso contrário, mostrar uma mensagem dizendo que ele não deve pagar nada (resolver a questão utilizando uma função para calcular a multa caso seja necessário).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5D0538-088E-4942-81A8-7E5483A4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4710" y="1348133"/>
            <a:ext cx="1427584" cy="1526010"/>
          </a:xfrm>
          <a:prstGeom prst="rect">
            <a:avLst/>
          </a:prstGeom>
        </p:spPr>
      </p:pic>
      <p:sp>
        <p:nvSpPr>
          <p:cNvPr id="5" name="Balão de Pensamento: Nuvem 4">
            <a:extLst>
              <a:ext uri="{FF2B5EF4-FFF2-40B4-BE49-F238E27FC236}">
                <a16:creationId xmlns:a16="http://schemas.microsoft.com/office/drawing/2014/main" id="{366307A6-A731-4FC0-948F-509E8507FA9A}"/>
              </a:ext>
            </a:extLst>
          </p:cNvPr>
          <p:cNvSpPr/>
          <p:nvPr/>
        </p:nvSpPr>
        <p:spPr>
          <a:xfrm>
            <a:off x="9607420" y="205273"/>
            <a:ext cx="2584580" cy="1268964"/>
          </a:xfrm>
          <a:prstGeom prst="cloudCallout">
            <a:avLst>
              <a:gd name="adj1" fmla="val -44299"/>
              <a:gd name="adj2" fmla="val 6323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Estou acreditando que vão conseguir!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B85E22-F982-46E8-BAD1-E6DC22812C62}"/>
              </a:ext>
            </a:extLst>
          </p:cNvPr>
          <p:cNvSpPr/>
          <p:nvPr/>
        </p:nvSpPr>
        <p:spPr>
          <a:xfrm>
            <a:off x="2395978" y="56384"/>
            <a:ext cx="25854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Desafio:</a:t>
            </a:r>
          </a:p>
        </p:txBody>
      </p:sp>
    </p:spTree>
    <p:extLst>
      <p:ext uri="{BB962C8B-B14F-4D97-AF65-F5344CB8AC3E}">
        <p14:creationId xmlns:p14="http://schemas.microsoft.com/office/powerpoint/2010/main" val="75829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E37F7C4-469E-4A64-970C-CBE51EA17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779" y="112064"/>
            <a:ext cx="8115300" cy="63912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92589A-70A2-4BD4-AA7B-3FD7E1094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180" y="-65411"/>
            <a:ext cx="4055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5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D83A74-9574-44DF-A649-1E17A6F69581}"/>
              </a:ext>
            </a:extLst>
          </p:cNvPr>
          <p:cNvSpPr/>
          <p:nvPr/>
        </p:nvSpPr>
        <p:spPr>
          <a:xfrm>
            <a:off x="295469" y="1310471"/>
            <a:ext cx="7355632" cy="2118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Criar um programa que leia a altura e o peso de N pessoas e mostre seu IMC com a respectiva classificação. O cálculo do IMC deverá ser realizado através de uma função que receberá os valores de entrada necessários para o cálculo.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Fórmula --&gt; IMC = PESO / (ALTURA * ALTURA)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F2679C9-F865-4CA2-B311-0171B6C651D6}"/>
              </a:ext>
            </a:extLst>
          </p:cNvPr>
          <p:cNvSpPr/>
          <p:nvPr/>
        </p:nvSpPr>
        <p:spPr>
          <a:xfrm>
            <a:off x="596521" y="308310"/>
            <a:ext cx="6277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Mais um pouquinho: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1B6FED1-6469-44F0-977C-6716AC548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28" y="3429000"/>
            <a:ext cx="3371850" cy="30765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1866080-0112-476E-B479-FE9EC692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037" y="177281"/>
            <a:ext cx="4316963" cy="5626360"/>
          </a:xfrm>
          <a:prstGeom prst="rect">
            <a:avLst/>
          </a:prstGeom>
        </p:spPr>
      </p:pic>
      <p:sp>
        <p:nvSpPr>
          <p:cNvPr id="7" name="Balão de Pensamento: Nuvem 6">
            <a:extLst>
              <a:ext uri="{FF2B5EF4-FFF2-40B4-BE49-F238E27FC236}">
                <a16:creationId xmlns:a16="http://schemas.microsoft.com/office/drawing/2014/main" id="{A9F12EC1-B2F4-435B-9DD1-9A2EB345DFFF}"/>
              </a:ext>
            </a:extLst>
          </p:cNvPr>
          <p:cNvSpPr/>
          <p:nvPr/>
        </p:nvSpPr>
        <p:spPr>
          <a:xfrm>
            <a:off x="10033518" y="177282"/>
            <a:ext cx="2158482" cy="1133190"/>
          </a:xfrm>
          <a:prstGeom prst="cloudCallout">
            <a:avLst>
              <a:gd name="adj1" fmla="val -51504"/>
              <a:gd name="adj2" fmla="val 61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Acho que peguei mais leve agora!</a:t>
            </a:r>
          </a:p>
        </p:txBody>
      </p:sp>
    </p:spTree>
    <p:extLst>
      <p:ext uri="{BB962C8B-B14F-4D97-AF65-F5344CB8AC3E}">
        <p14:creationId xmlns:p14="http://schemas.microsoft.com/office/powerpoint/2010/main" val="191285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C1B107D3-D6B5-4398-8657-13EC6043753D}"/>
              </a:ext>
            </a:extLst>
          </p:cNvPr>
          <p:cNvGrpSpPr/>
          <p:nvPr/>
        </p:nvGrpSpPr>
        <p:grpSpPr>
          <a:xfrm>
            <a:off x="0" y="232050"/>
            <a:ext cx="5735518" cy="6393900"/>
            <a:chOff x="6096000" y="165520"/>
            <a:chExt cx="5735518" cy="639390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09FDD05-ABFF-4AFF-A0FD-C1E0A04E4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65520"/>
              <a:ext cx="5735518" cy="6393900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3487E81-B817-406D-93DB-67471B5F3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1833" y="1728885"/>
              <a:ext cx="4324350" cy="190500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D3751059-3099-4C00-9A1E-3A0DCF5FE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1351" y="1460727"/>
            <a:ext cx="6515100" cy="4067175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5DC7C5F-1A11-461C-B276-4B0F2EB63A3F}"/>
              </a:ext>
            </a:extLst>
          </p:cNvPr>
          <p:cNvSpPr/>
          <p:nvPr/>
        </p:nvSpPr>
        <p:spPr>
          <a:xfrm>
            <a:off x="5900895" y="232050"/>
            <a:ext cx="2666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Solução:</a:t>
            </a:r>
          </a:p>
        </p:txBody>
      </p:sp>
    </p:spTree>
    <p:extLst>
      <p:ext uri="{BB962C8B-B14F-4D97-AF65-F5344CB8AC3E}">
        <p14:creationId xmlns:p14="http://schemas.microsoft.com/office/powerpoint/2010/main" val="94121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DD815F6-7AA8-488E-BD77-B388D6345DEA}"/>
              </a:ext>
            </a:extLst>
          </p:cNvPr>
          <p:cNvSpPr/>
          <p:nvPr/>
        </p:nvSpPr>
        <p:spPr>
          <a:xfrm>
            <a:off x="0" y="-117113"/>
            <a:ext cx="8298025" cy="7104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Criar um algoritmo em Python que tenha a entrada de nome e salário bruto. Com função, resolve as situações abaixo: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INSS: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1800 desconte 11%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1800 desconte 9%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 transporte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1500 desconte 6%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1500 desconte 5%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Bônus: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1240 some com mais 700 reais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1240 some com mais 500 reais</a:t>
            </a:r>
          </a:p>
          <a:p>
            <a:pPr algn="just">
              <a:lnSpc>
                <a:spcPct val="150000"/>
              </a:lnSpc>
            </a:pPr>
            <a:r>
              <a:rPr lang="pt-B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3000 = “Acionista”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&gt;= 2000 = “Gerente”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o salário bruto &lt; 2000 = “Vendedor”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Líquido: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Salário Líquido = salário bruto – (</a:t>
            </a:r>
            <a:r>
              <a:rPr lang="pt-BR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inss</a:t>
            </a: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vale) + bônus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004FB3-280D-4A2B-82A9-782D8CC86734}"/>
              </a:ext>
            </a:extLst>
          </p:cNvPr>
          <p:cNvSpPr txBox="1"/>
          <p:nvPr/>
        </p:nvSpPr>
        <p:spPr>
          <a:xfrm>
            <a:off x="6242180" y="5719666"/>
            <a:ext cx="4111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Mostre todas as informações no final: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29F964-FC9F-4D10-9B77-43DCC959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699" y="1180905"/>
            <a:ext cx="1714649" cy="2248095"/>
          </a:xfrm>
          <a:prstGeom prst="rect">
            <a:avLst/>
          </a:prstGeom>
        </p:spPr>
      </p:pic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56EE8C30-55BA-4729-B1A2-250E7CC2CCA5}"/>
              </a:ext>
            </a:extLst>
          </p:cNvPr>
          <p:cNvSpPr/>
          <p:nvPr/>
        </p:nvSpPr>
        <p:spPr>
          <a:xfrm>
            <a:off x="9155348" y="329196"/>
            <a:ext cx="1875453" cy="1175657"/>
          </a:xfrm>
          <a:prstGeom prst="cloudCallout">
            <a:avLst>
              <a:gd name="adj1" fmla="val -83520"/>
              <a:gd name="adj2" fmla="val 521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Deixa eu esconder o rosto !</a:t>
            </a:r>
          </a:p>
        </p:txBody>
      </p:sp>
    </p:spTree>
    <p:extLst>
      <p:ext uri="{BB962C8B-B14F-4D97-AF65-F5344CB8AC3E}">
        <p14:creationId xmlns:p14="http://schemas.microsoft.com/office/powerpoint/2010/main" val="225471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Agrupar 8">
            <a:extLst>
              <a:ext uri="{FF2B5EF4-FFF2-40B4-BE49-F238E27FC236}">
                <a16:creationId xmlns:a16="http://schemas.microsoft.com/office/drawing/2014/main" id="{364842C4-E8CE-4371-97FC-2DFE82EBE842}"/>
              </a:ext>
            </a:extLst>
          </p:cNvPr>
          <p:cNvGrpSpPr/>
          <p:nvPr/>
        </p:nvGrpSpPr>
        <p:grpSpPr>
          <a:xfrm>
            <a:off x="877077" y="843835"/>
            <a:ext cx="5448300" cy="4181475"/>
            <a:chOff x="0" y="51318"/>
            <a:chExt cx="5448300" cy="4181475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FC1C8D85-AEC1-4B36-9F7B-5E82462A1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1318"/>
              <a:ext cx="5448300" cy="4181475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3C5D2B2A-DB7B-4492-AEE8-BB2B7BAEA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84542"/>
              <a:ext cx="3343275" cy="276225"/>
            </a:xfrm>
            <a:prstGeom prst="rect">
              <a:avLst/>
            </a:prstGeom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ABD729D9-FAA3-438F-87A6-19FAF8B36024}"/>
              </a:ext>
            </a:extLst>
          </p:cNvPr>
          <p:cNvGrpSpPr/>
          <p:nvPr/>
        </p:nvGrpSpPr>
        <p:grpSpPr>
          <a:xfrm>
            <a:off x="7159690" y="492576"/>
            <a:ext cx="4524375" cy="4495800"/>
            <a:chOff x="6096000" y="312867"/>
            <a:chExt cx="4524375" cy="449580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B70DF6A-E34C-45DA-A332-9B77CE7F4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312867"/>
              <a:ext cx="4524375" cy="449580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1A0AE4E-7A6A-488A-A3A9-7D72A1B21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2335860"/>
              <a:ext cx="3343275" cy="224907"/>
            </a:xfrm>
            <a:prstGeom prst="rect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CB79A26D-CE73-4DDD-BFB7-AEC8986D9C5D}"/>
              </a:ext>
            </a:extLst>
          </p:cNvPr>
          <p:cNvGrpSpPr/>
          <p:nvPr/>
        </p:nvGrpSpPr>
        <p:grpSpPr>
          <a:xfrm>
            <a:off x="1296760" y="5384541"/>
            <a:ext cx="9467850" cy="1295400"/>
            <a:chOff x="1296760" y="5384541"/>
            <a:chExt cx="9467850" cy="129540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539D9F7-8FE0-4B1A-ADF3-E489C714D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6760" y="5384541"/>
              <a:ext cx="9467850" cy="12954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DC020C23-8794-436C-8B55-A3BAC8862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2421" y="5651531"/>
              <a:ext cx="3343275" cy="208093"/>
            </a:xfrm>
            <a:prstGeom prst="rect">
              <a:avLst/>
            </a:prstGeom>
          </p:spPr>
        </p:pic>
      </p:grp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3CC0CD-CE8D-4357-BB2B-BFB9DA139642}"/>
              </a:ext>
            </a:extLst>
          </p:cNvPr>
          <p:cNvSpPr/>
          <p:nvPr/>
        </p:nvSpPr>
        <p:spPr>
          <a:xfrm>
            <a:off x="1468854" y="-112058"/>
            <a:ext cx="26668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Solução:</a:t>
            </a:r>
          </a:p>
        </p:txBody>
      </p:sp>
    </p:spTree>
    <p:extLst>
      <p:ext uri="{BB962C8B-B14F-4D97-AF65-F5344CB8AC3E}">
        <p14:creationId xmlns:p14="http://schemas.microsoft.com/office/powerpoint/2010/main" val="9347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5C4D069-483B-4AF2-B41E-19B800165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819" y="351550"/>
            <a:ext cx="6381750" cy="57816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31E0491-D3ED-4412-AE85-1BF5AA4BA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44" y="1712167"/>
            <a:ext cx="1530220" cy="1530220"/>
          </a:xfrm>
          <a:prstGeom prst="rect">
            <a:avLst/>
          </a:prstGeom>
        </p:spPr>
      </p:pic>
      <p:sp>
        <p:nvSpPr>
          <p:cNvPr id="4" name="Balão de Fala: Oval 3">
            <a:extLst>
              <a:ext uri="{FF2B5EF4-FFF2-40B4-BE49-F238E27FC236}">
                <a16:creationId xmlns:a16="http://schemas.microsoft.com/office/drawing/2014/main" id="{7B142F28-226F-46BE-BB04-85BEFFD9C1CB}"/>
              </a:ext>
            </a:extLst>
          </p:cNvPr>
          <p:cNvSpPr/>
          <p:nvPr/>
        </p:nvSpPr>
        <p:spPr>
          <a:xfrm>
            <a:off x="1884783" y="648477"/>
            <a:ext cx="2864498" cy="1147665"/>
          </a:xfrm>
          <a:prstGeom prst="wedgeEllipseCallout">
            <a:avLst>
              <a:gd name="adj1" fmla="val -60247"/>
              <a:gd name="adj2" fmla="val 1259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Acreditei em você e você conseguiu!</a:t>
            </a:r>
          </a:p>
        </p:txBody>
      </p:sp>
    </p:spTree>
    <p:extLst>
      <p:ext uri="{BB962C8B-B14F-4D97-AF65-F5344CB8AC3E}">
        <p14:creationId xmlns:p14="http://schemas.microsoft.com/office/powerpoint/2010/main" val="336987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A31EA755-F097-4183-B328-11ADC041E274}"/>
</file>

<file path=customXml/itemProps2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D73A89-B988-4509-83B7-FFB36E49DC45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a781f388-7a10-472b-91d8-f6ba0302cf91"/>
    <ds:schemaRef ds:uri="9b06ae4b-c05d-45e7-9862-552d1f33da7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766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Gotham Black</vt:lpstr>
      <vt:lpstr>Calibri</vt:lpstr>
      <vt:lpstr>Arial</vt:lpstr>
      <vt:lpstr>Gotham</vt:lpstr>
      <vt:lpstr>Arial Black</vt:lpstr>
      <vt:lpstr>Abril Fatface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153</cp:revision>
  <cp:lastPrinted>2018-05-14T08:23:45Z</cp:lastPrinted>
  <dcterms:created xsi:type="dcterms:W3CDTF">2018-05-13T00:15:53Z</dcterms:created>
  <dcterms:modified xsi:type="dcterms:W3CDTF">2025-11-02T16:14:25Z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